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defPPr lvl="0"/>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64" autoAdjust="0"/>
    <p:restoredTop sz="94660"/>
  </p:normalViewPr>
  <p:slideViewPr>
    <p:cSldViewPr snapToGrid="0">
      <p:cViewPr>
        <p:scale>
          <a:sx n="80" d="100"/>
          <a:sy n="80" d="100"/>
        </p:scale>
        <p:origin x="264" y="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6/12/2026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 Id="rId9" Type="http://schemas.openxmlformats.org/officeDocument/2006/relationships/image" Target="../media/image9.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Shape 53"/>
        <p:cNvGrpSpPr/>
        <p:nvPr/>
      </p:nvGrpSpPr>
      <p:grpSpPr>
        <a:xfrm>
          <a:off x="0" y="0"/>
          <a:ext cx="0" cy="0"/>
          <a:chOff x="0" y="0"/>
          <a:chExt cx="0" cy="0"/>
        </a:xfrm>
      </p:grpSpPr>
      <p:sp>
        <p:nvSpPr>
          <p:cNvPr id="54" name="Google Shape;54;p1"/>
          <p:cNvSpPr/>
          <p:nvPr/>
        </p:nvSpPr>
        <p:spPr>
          <a:xfrm>
            <a:off x="548640" y="640080"/>
            <a:ext cx="8046600" cy="1005900"/>
          </a:xfrm>
          <a:prstGeom prst="rect">
            <a:avLst/>
          </a:prstGeom>
          <a:noFill/>
          <a:ln>
            <a:noFill/>
          </a:ln>
          <a:effectLst>
            <a:softEdge rad="0"/>
          </a:effectLst>
        </p:spPr>
        <p:txBody>
          <a:bodyPr spcFirstLastPara="1" wrap="square" lIns="0" tIns="0" rIns="0" bIns="0" anchor="ctr" anchorCtr="0">
            <a:noAutofit/>
          </a:bodyPr>
          <a:lstStyle/>
          <a:p>
            <a:pPr marL="0" marR="0" lvl="0" indent="0" algn="l" rtl="0">
              <a:spcBef>
                <a:spcPts val="0"/>
              </a:spcBef>
              <a:spcAft>
                <a:spcPts val="0"/>
              </a:spcAft>
              <a:buClr>
                <a:srgbClr val="FFFFFF"/>
              </a:buClr>
              <a:buSzPts val="5200"/>
              <a:buFont typeface="Calibri"/>
              <a:buNone/>
            </a:pPr>
            <a:r>
              <a:rPr lang="en-US" sz="5200" b="1" i="0" u="none" strike="noStrike" cap="none" dirty="0">
                <a:solidFill>
                  <a:srgbClr val="FFFFFF"/>
                </a:solidFill>
                <a:latin typeface="Calibri"/>
                <a:ea typeface="Calibri"/>
                <a:cs typeface="Calibri"/>
                <a:sym typeface="Calibri"/>
              </a:rPr>
              <a:t>SMARTCORP</a:t>
            </a:r>
            <a:endParaRPr sz="5200" b="0" i="0" u="none" strike="noStrike" cap="none" dirty="0">
              <a:solidFill>
                <a:schemeClr val="dk1"/>
              </a:solidFill>
              <a:latin typeface="Calibri"/>
              <a:ea typeface="Calibri"/>
              <a:cs typeface="Calibri"/>
              <a:sym typeface="Calibri"/>
            </a:endParaRPr>
          </a:p>
        </p:txBody>
      </p:sp>
      <p:sp>
        <p:nvSpPr>
          <p:cNvPr id="55" name="Google Shape;55;p1"/>
          <p:cNvSpPr/>
          <p:nvPr/>
        </p:nvSpPr>
        <p:spPr>
          <a:xfrm>
            <a:off x="548640" y="1600200"/>
            <a:ext cx="8046600" cy="594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ADCFC"/>
              </a:buClr>
              <a:buSzPts val="2200"/>
              <a:buFont typeface="Calibri"/>
              <a:buNone/>
            </a:pPr>
            <a:r>
              <a:rPr lang="en-US" sz="2200" b="1" i="0" u="none" strike="noStrike" cap="none" dirty="0">
                <a:solidFill>
                  <a:schemeClr val="bg1"/>
                </a:solidFill>
                <a:latin typeface="Calibri"/>
                <a:ea typeface="Calibri"/>
                <a:cs typeface="Calibri"/>
                <a:sym typeface="Calibri"/>
              </a:rPr>
              <a:t>Global Corporate Performance Analysis</a:t>
            </a:r>
            <a:endParaRPr sz="2200" b="1" i="0" u="none" strike="noStrike" cap="none" dirty="0">
              <a:solidFill>
                <a:schemeClr val="bg1"/>
              </a:solidFill>
              <a:latin typeface="Calibri"/>
              <a:ea typeface="Calibri"/>
              <a:cs typeface="Calibri"/>
              <a:sym typeface="Calibri"/>
            </a:endParaRPr>
          </a:p>
        </p:txBody>
      </p:sp>
      <p:sp>
        <p:nvSpPr>
          <p:cNvPr id="56" name="Google Shape;56;p1"/>
          <p:cNvSpPr/>
          <p:nvPr/>
        </p:nvSpPr>
        <p:spPr>
          <a:xfrm>
            <a:off x="548640" y="2331720"/>
            <a:ext cx="1463100" cy="63900"/>
          </a:xfrm>
          <a:prstGeom prst="rect">
            <a:avLst/>
          </a:prstGeom>
          <a:solidFill>
            <a:srgbClr val="00B0F0"/>
          </a:solidFill>
          <a:ln w="12700" cap="flat" cmpd="sng">
            <a:solidFill>
              <a:srgbClr val="00B0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
          <p:cNvSpPr/>
          <p:nvPr/>
        </p:nvSpPr>
        <p:spPr>
          <a:xfrm>
            <a:off x="548640" y="2514600"/>
            <a:ext cx="77724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0A4AE"/>
              </a:buClr>
              <a:buSzPts val="1300"/>
              <a:buFont typeface="Calibri"/>
              <a:buNone/>
            </a:pPr>
            <a:r>
              <a:rPr lang="en-US" sz="1600" b="1" i="0" u="none" strike="noStrike" cap="none" dirty="0">
                <a:solidFill>
                  <a:schemeClr val="accent1">
                    <a:lumMod val="20000"/>
                    <a:lumOff val="80000"/>
                  </a:schemeClr>
                </a:solidFill>
                <a:latin typeface="Calibri"/>
                <a:ea typeface="Calibri"/>
                <a:cs typeface="Calibri"/>
                <a:sym typeface="Calibri"/>
              </a:rPr>
              <a:t>Dataset: Forbes Global 2000 Companies 2025  |  Source: Kaggle</a:t>
            </a:r>
            <a:endParaRPr sz="1600" b="1" i="0" u="none" strike="noStrike" cap="none" dirty="0">
              <a:solidFill>
                <a:schemeClr val="accent1">
                  <a:lumMod val="20000"/>
                  <a:lumOff val="80000"/>
                </a:schemeClr>
              </a:solidFill>
              <a:latin typeface="Calibri"/>
              <a:ea typeface="Calibri"/>
              <a:cs typeface="Calibri"/>
              <a:sym typeface="Calibri"/>
            </a:endParaRPr>
          </a:p>
        </p:txBody>
      </p:sp>
      <p:sp>
        <p:nvSpPr>
          <p:cNvPr id="58" name="Google Shape;58;p1"/>
          <p:cNvSpPr/>
          <p:nvPr/>
        </p:nvSpPr>
        <p:spPr>
          <a:xfrm>
            <a:off x="548640" y="2880360"/>
            <a:ext cx="82296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9A825"/>
              </a:buClr>
              <a:buSzPts val="1300"/>
              <a:buFont typeface="Calibri"/>
              <a:buNone/>
            </a:pPr>
            <a:r>
              <a:rPr lang="en-US" sz="1600" b="1" i="0" u="none" strike="noStrike" cap="none" dirty="0">
                <a:solidFill>
                  <a:schemeClr val="accent1">
                    <a:lumMod val="20000"/>
                    <a:lumOff val="80000"/>
                  </a:schemeClr>
                </a:solidFill>
                <a:latin typeface="Calibri"/>
                <a:ea typeface="Calibri"/>
                <a:cs typeface="Calibri"/>
                <a:sym typeface="Calibri"/>
              </a:rPr>
              <a:t>Presented to: </a:t>
            </a:r>
            <a:r>
              <a:rPr lang="en-US" sz="1300" b="0" i="0" u="none" strike="noStrike" cap="none" dirty="0">
                <a:solidFill>
                  <a:srgbClr val="FFFFFF"/>
                </a:solidFill>
                <a:latin typeface="Calibri"/>
                <a:ea typeface="Calibri"/>
                <a:cs typeface="Calibri"/>
                <a:sym typeface="Calibri"/>
              </a:rPr>
              <a:t>Chinedu Okoli, Chief Business Officer  |  Aisha Musa, Head of Corporate Strategy</a:t>
            </a:r>
            <a:endParaRPr sz="1300" b="0" i="0" u="none" strike="noStrike" cap="none" dirty="0">
              <a:solidFill>
                <a:schemeClr val="dk1"/>
              </a:solidFill>
              <a:latin typeface="Calibri"/>
              <a:ea typeface="Calibri"/>
              <a:cs typeface="Calibri"/>
              <a:sym typeface="Calibri"/>
            </a:endParaRPr>
          </a:p>
        </p:txBody>
      </p:sp>
      <p:sp>
        <p:nvSpPr>
          <p:cNvPr id="59" name="Google Shape;59;p1"/>
          <p:cNvSpPr/>
          <p:nvPr/>
        </p:nvSpPr>
        <p:spPr>
          <a:xfrm>
            <a:off x="548640" y="3246120"/>
            <a:ext cx="8229600" cy="320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9A825"/>
              </a:buClr>
              <a:buSzPts val="1300"/>
              <a:buFont typeface="Calibri"/>
              <a:buNone/>
            </a:pPr>
            <a:r>
              <a:rPr lang="en-US" sz="1600" b="1" i="0" u="none" strike="noStrike" cap="none" dirty="0">
                <a:solidFill>
                  <a:schemeClr val="accent1">
                    <a:lumMod val="20000"/>
                    <a:lumOff val="80000"/>
                  </a:schemeClr>
                </a:solidFill>
                <a:latin typeface="Calibri"/>
                <a:ea typeface="Calibri"/>
                <a:cs typeface="Calibri"/>
                <a:sym typeface="Calibri"/>
              </a:rPr>
              <a:t>Prepared by: </a:t>
            </a:r>
            <a:r>
              <a:rPr lang="en-US" sz="1300" b="1" i="0" u="none" strike="noStrike" cap="none" dirty="0">
                <a:solidFill>
                  <a:srgbClr val="FFFFFF"/>
                </a:solidFill>
                <a:latin typeface="Calibri"/>
                <a:ea typeface="Calibri"/>
                <a:cs typeface="Calibri"/>
                <a:sym typeface="Calibri"/>
              </a:rPr>
              <a:t>TechCrush Data Analytics Group 20 Team  </a:t>
            </a:r>
            <a:r>
              <a:rPr lang="en-US" sz="1300" b="0" i="0" u="none" strike="noStrike" cap="none" dirty="0">
                <a:solidFill>
                  <a:srgbClr val="FFFFFF"/>
                </a:solidFill>
                <a:latin typeface="Calibri"/>
                <a:ea typeface="Calibri"/>
                <a:cs typeface="Calibri"/>
                <a:sym typeface="Calibri"/>
              </a:rPr>
              <a:t>—  </a:t>
            </a:r>
            <a:r>
              <a:rPr lang="en-US" sz="1300" b="1" i="0" u="none" strike="noStrike" cap="none" dirty="0">
                <a:solidFill>
                  <a:srgbClr val="FFFFFF"/>
                </a:solidFill>
                <a:latin typeface="Calibri"/>
                <a:ea typeface="Calibri"/>
                <a:cs typeface="Calibri"/>
                <a:sym typeface="Calibri"/>
              </a:rPr>
              <a:t>Smart Corp Capstone Project  |  June 2026</a:t>
            </a:r>
            <a:endParaRPr sz="1300" b="1" i="0" u="none" strike="noStrike" cap="none" dirty="0">
              <a:solidFill>
                <a:schemeClr val="dk1"/>
              </a:solidFill>
              <a:latin typeface="Calibri"/>
              <a:ea typeface="Calibri"/>
              <a:cs typeface="Calibri"/>
              <a:sym typeface="Calibri"/>
            </a:endParaRPr>
          </a:p>
        </p:txBody>
      </p:sp>
      <p:sp>
        <p:nvSpPr>
          <p:cNvPr id="60" name="Google Shape;60;p1"/>
          <p:cNvSpPr/>
          <p:nvPr/>
        </p:nvSpPr>
        <p:spPr>
          <a:xfrm>
            <a:off x="5541917" y="3928654"/>
            <a:ext cx="1371600" cy="411600"/>
          </a:xfrm>
          <a:prstGeom prst="roundRect">
            <a:avLst>
              <a:gd name="adj" fmla="val 17778"/>
            </a:avLst>
          </a:prstGeom>
          <a:solidFill>
            <a:srgbClr val="1E88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
          <p:cNvSpPr/>
          <p:nvPr/>
        </p:nvSpPr>
        <p:spPr>
          <a:xfrm>
            <a:off x="3482884" y="3928654"/>
            <a:ext cx="1371600" cy="411600"/>
          </a:xfrm>
          <a:prstGeom prst="roundRect">
            <a:avLst>
              <a:gd name="adj" fmla="val 17778"/>
            </a:avLst>
          </a:prstGeom>
          <a:solidFill>
            <a:srgbClr val="1E88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
          <p:cNvSpPr/>
          <p:nvPr/>
        </p:nvSpPr>
        <p:spPr>
          <a:xfrm>
            <a:off x="5602334" y="3922123"/>
            <a:ext cx="1371600" cy="411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dirty="0">
                <a:solidFill>
                  <a:srgbClr val="FFFFFF"/>
                </a:solidFill>
                <a:latin typeface="Calibri"/>
                <a:ea typeface="Calibri"/>
                <a:cs typeface="Calibri"/>
                <a:sym typeface="Calibri"/>
              </a:rPr>
              <a:t>Power BI</a:t>
            </a:r>
            <a:endParaRPr sz="1200" b="0" i="0" u="none" strike="noStrike" cap="none" dirty="0">
              <a:solidFill>
                <a:schemeClr val="dk1"/>
              </a:solidFill>
              <a:latin typeface="Calibri"/>
              <a:ea typeface="Calibri"/>
              <a:cs typeface="Calibri"/>
              <a:sym typeface="Calibri"/>
            </a:endParaRPr>
          </a:p>
        </p:txBody>
      </p:sp>
      <p:sp>
        <p:nvSpPr>
          <p:cNvPr id="64" name="Google Shape;64;p1"/>
          <p:cNvSpPr/>
          <p:nvPr/>
        </p:nvSpPr>
        <p:spPr>
          <a:xfrm>
            <a:off x="1423851" y="3928654"/>
            <a:ext cx="1371600" cy="411600"/>
          </a:xfrm>
          <a:prstGeom prst="roundRect">
            <a:avLst>
              <a:gd name="adj" fmla="val 17778"/>
            </a:avLst>
          </a:prstGeom>
          <a:solidFill>
            <a:srgbClr val="1E88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
          <p:cNvSpPr/>
          <p:nvPr/>
        </p:nvSpPr>
        <p:spPr>
          <a:xfrm>
            <a:off x="1423851" y="3928654"/>
            <a:ext cx="1371600" cy="411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dirty="0">
                <a:solidFill>
                  <a:srgbClr val="FFFFFF"/>
                </a:solidFill>
                <a:latin typeface="Calibri"/>
                <a:ea typeface="Calibri"/>
                <a:cs typeface="Calibri"/>
                <a:sym typeface="Calibri"/>
              </a:rPr>
              <a:t>Kaggle Dataset</a:t>
            </a:r>
            <a:endParaRPr sz="1200" b="0" i="0" u="none" strike="noStrike" cap="none" dirty="0">
              <a:solidFill>
                <a:schemeClr val="dk1"/>
              </a:solidFill>
              <a:latin typeface="Calibri"/>
              <a:ea typeface="Calibri"/>
              <a:cs typeface="Calibri"/>
              <a:sym typeface="Calibri"/>
            </a:endParaRPr>
          </a:p>
        </p:txBody>
      </p:sp>
      <p:sp>
        <p:nvSpPr>
          <p:cNvPr id="61" name="Google Shape;61;p1"/>
          <p:cNvSpPr/>
          <p:nvPr/>
        </p:nvSpPr>
        <p:spPr>
          <a:xfrm>
            <a:off x="3482884" y="3922123"/>
            <a:ext cx="1371600" cy="411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alibri"/>
              <a:buNone/>
            </a:pPr>
            <a:r>
              <a:rPr lang="en-US" sz="1200" b="1" i="0" u="none" strike="noStrike" cap="none" dirty="0">
                <a:solidFill>
                  <a:srgbClr val="FFFFFF"/>
                </a:solidFill>
                <a:latin typeface="Calibri"/>
                <a:ea typeface="Calibri"/>
                <a:cs typeface="Calibri"/>
                <a:sym typeface="Calibri"/>
              </a:rPr>
              <a:t>Excel</a:t>
            </a:r>
            <a:endParaRPr sz="12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AGENDA</a:t>
            </a:r>
            <a:endParaRPr lang="en-US" sz="2800" dirty="0"/>
          </a:p>
        </p:txBody>
      </p:sp>
      <p:sp>
        <p:nvSpPr>
          <p:cNvPr id="4" name="Shape 2"/>
          <p:cNvSpPr/>
          <p:nvPr/>
        </p:nvSpPr>
        <p:spPr>
          <a:xfrm>
            <a:off x="457200" y="1097280"/>
            <a:ext cx="4114800" cy="566928"/>
          </a:xfrm>
          <a:prstGeom prst="roundRect">
            <a:avLst>
              <a:gd name="adj" fmla="val 12903"/>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5" name="Shape 3"/>
          <p:cNvSpPr/>
          <p:nvPr/>
        </p:nvSpPr>
        <p:spPr>
          <a:xfrm>
            <a:off x="457200" y="1097280"/>
            <a:ext cx="457200" cy="566928"/>
          </a:xfrm>
          <a:prstGeom prst="roundRect">
            <a:avLst>
              <a:gd name="adj" fmla="val 12000"/>
            </a:avLst>
          </a:prstGeom>
          <a:solidFill>
            <a:srgbClr val="002060"/>
          </a:solidFill>
          <a:ln/>
        </p:spPr>
        <p:txBody>
          <a:bodyPr/>
          <a:lstStyle/>
          <a:p>
            <a:endParaRPr lang="en-US"/>
          </a:p>
        </p:txBody>
      </p:sp>
      <p:sp>
        <p:nvSpPr>
          <p:cNvPr id="6" name="Text 4"/>
          <p:cNvSpPr/>
          <p:nvPr/>
        </p:nvSpPr>
        <p:spPr>
          <a:xfrm>
            <a:off x="457200" y="1097280"/>
            <a:ext cx="45720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7" name="Text 5"/>
          <p:cNvSpPr/>
          <p:nvPr/>
        </p:nvSpPr>
        <p:spPr>
          <a:xfrm>
            <a:off x="1005840" y="1097280"/>
            <a:ext cx="3474720" cy="566928"/>
          </a:xfrm>
          <a:prstGeom prst="rect">
            <a:avLst/>
          </a:prstGeom>
          <a:noFill/>
          <a:ln/>
        </p:spPr>
        <p:txBody>
          <a:bodyPr wrap="square" lIns="0" tIns="0" rIns="0" bIns="0" rtlCol="0" anchor="ctr"/>
          <a:lstStyle/>
          <a:p>
            <a:pPr marL="0" indent="0">
              <a:buNone/>
            </a:pPr>
            <a:r>
              <a:rPr lang="en-US" sz="1300" dirty="0">
                <a:solidFill>
                  <a:srgbClr val="1B2A4A"/>
                </a:solidFill>
                <a:latin typeface="Calibri" pitchFamily="34" charset="0"/>
                <a:ea typeface="Calibri" pitchFamily="34" charset="-122"/>
                <a:cs typeface="Calibri" pitchFamily="34" charset="-120"/>
              </a:rPr>
              <a:t>Project Overview &amp; Business Problem</a:t>
            </a:r>
            <a:endParaRPr lang="en-US" sz="1300" dirty="0"/>
          </a:p>
        </p:txBody>
      </p:sp>
      <p:sp>
        <p:nvSpPr>
          <p:cNvPr id="8" name="Shape 6"/>
          <p:cNvSpPr/>
          <p:nvPr/>
        </p:nvSpPr>
        <p:spPr>
          <a:xfrm>
            <a:off x="457200" y="1792224"/>
            <a:ext cx="4114800" cy="566928"/>
          </a:xfrm>
          <a:prstGeom prst="roundRect">
            <a:avLst>
              <a:gd name="adj" fmla="val 12903"/>
            </a:avLst>
          </a:prstGeom>
          <a:solidFill>
            <a:srgbClr val="E3EAF4"/>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9" name="Shape 7"/>
          <p:cNvSpPr/>
          <p:nvPr/>
        </p:nvSpPr>
        <p:spPr>
          <a:xfrm>
            <a:off x="457200" y="1792224"/>
            <a:ext cx="457200" cy="566928"/>
          </a:xfrm>
          <a:prstGeom prst="roundRect">
            <a:avLst>
              <a:gd name="adj" fmla="val 12000"/>
            </a:avLst>
          </a:prstGeom>
          <a:solidFill>
            <a:srgbClr val="002060"/>
          </a:solidFill>
          <a:ln/>
        </p:spPr>
        <p:txBody>
          <a:bodyPr/>
          <a:lstStyle/>
          <a:p>
            <a:endParaRPr lang="en-US"/>
          </a:p>
        </p:txBody>
      </p:sp>
      <p:sp>
        <p:nvSpPr>
          <p:cNvPr id="10" name="Text 8"/>
          <p:cNvSpPr/>
          <p:nvPr/>
        </p:nvSpPr>
        <p:spPr>
          <a:xfrm>
            <a:off x="457200" y="1792224"/>
            <a:ext cx="45720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1" name="Text 9"/>
          <p:cNvSpPr/>
          <p:nvPr/>
        </p:nvSpPr>
        <p:spPr>
          <a:xfrm>
            <a:off x="1005840" y="1792224"/>
            <a:ext cx="3474720" cy="566928"/>
          </a:xfrm>
          <a:prstGeom prst="rect">
            <a:avLst/>
          </a:prstGeom>
          <a:noFill/>
          <a:ln/>
        </p:spPr>
        <p:txBody>
          <a:bodyPr wrap="square" lIns="0" tIns="0" rIns="0" bIns="0" rtlCol="0" anchor="ctr"/>
          <a:lstStyle/>
          <a:p>
            <a:pPr marL="0" indent="0">
              <a:buNone/>
            </a:pPr>
            <a:r>
              <a:rPr lang="en-US" sz="1300" dirty="0">
                <a:solidFill>
                  <a:srgbClr val="1B2A4A"/>
                </a:solidFill>
                <a:latin typeface="Calibri" pitchFamily="34" charset="0"/>
                <a:ea typeface="Calibri" pitchFamily="34" charset="-122"/>
                <a:cs typeface="Calibri" pitchFamily="34" charset="-120"/>
              </a:rPr>
              <a:t>About the Dataset</a:t>
            </a:r>
            <a:endParaRPr lang="en-US" sz="1300" dirty="0"/>
          </a:p>
        </p:txBody>
      </p:sp>
      <p:sp>
        <p:nvSpPr>
          <p:cNvPr id="12" name="Shape 10"/>
          <p:cNvSpPr/>
          <p:nvPr/>
        </p:nvSpPr>
        <p:spPr>
          <a:xfrm>
            <a:off x="457200" y="2487168"/>
            <a:ext cx="4114800" cy="566928"/>
          </a:xfrm>
          <a:prstGeom prst="roundRect">
            <a:avLst>
              <a:gd name="adj" fmla="val 12903"/>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13" name="Shape 11"/>
          <p:cNvSpPr/>
          <p:nvPr/>
        </p:nvSpPr>
        <p:spPr>
          <a:xfrm>
            <a:off x="457200" y="2487168"/>
            <a:ext cx="457200" cy="566928"/>
          </a:xfrm>
          <a:prstGeom prst="roundRect">
            <a:avLst>
              <a:gd name="adj" fmla="val 12000"/>
            </a:avLst>
          </a:prstGeom>
          <a:solidFill>
            <a:srgbClr val="002060"/>
          </a:solidFill>
          <a:ln/>
        </p:spPr>
        <p:txBody>
          <a:bodyPr/>
          <a:lstStyle/>
          <a:p>
            <a:endParaRPr lang="en-US"/>
          </a:p>
        </p:txBody>
      </p:sp>
      <p:sp>
        <p:nvSpPr>
          <p:cNvPr id="14" name="Text 12"/>
          <p:cNvSpPr/>
          <p:nvPr/>
        </p:nvSpPr>
        <p:spPr>
          <a:xfrm>
            <a:off x="457200" y="2487168"/>
            <a:ext cx="45720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5" name="Text 13"/>
          <p:cNvSpPr/>
          <p:nvPr/>
        </p:nvSpPr>
        <p:spPr>
          <a:xfrm>
            <a:off x="1005840" y="2487168"/>
            <a:ext cx="3474720" cy="566928"/>
          </a:xfrm>
          <a:prstGeom prst="rect">
            <a:avLst/>
          </a:prstGeom>
          <a:noFill/>
          <a:ln/>
        </p:spPr>
        <p:txBody>
          <a:bodyPr wrap="square" lIns="0" tIns="0" rIns="0" bIns="0" rtlCol="0" anchor="ctr"/>
          <a:lstStyle/>
          <a:p>
            <a:pPr marL="0" indent="0">
              <a:buNone/>
            </a:pPr>
            <a:r>
              <a:rPr lang="en-US" sz="1300" dirty="0">
                <a:solidFill>
                  <a:srgbClr val="1B2A4A"/>
                </a:solidFill>
                <a:latin typeface="Calibri" pitchFamily="34" charset="0"/>
                <a:ea typeface="Calibri" pitchFamily="34" charset="-122"/>
                <a:cs typeface="Calibri" pitchFamily="34" charset="-120"/>
              </a:rPr>
              <a:t>Data Cleaning Process</a:t>
            </a:r>
            <a:endParaRPr lang="en-US" sz="1300" dirty="0"/>
          </a:p>
        </p:txBody>
      </p:sp>
      <p:sp>
        <p:nvSpPr>
          <p:cNvPr id="16" name="Shape 14"/>
          <p:cNvSpPr/>
          <p:nvPr/>
        </p:nvSpPr>
        <p:spPr>
          <a:xfrm>
            <a:off x="457200" y="3182112"/>
            <a:ext cx="4114800" cy="566928"/>
          </a:xfrm>
          <a:prstGeom prst="roundRect">
            <a:avLst>
              <a:gd name="adj" fmla="val 12903"/>
            </a:avLst>
          </a:prstGeom>
          <a:solidFill>
            <a:srgbClr val="E3EAF4"/>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17" name="Shape 15"/>
          <p:cNvSpPr/>
          <p:nvPr/>
        </p:nvSpPr>
        <p:spPr>
          <a:xfrm>
            <a:off x="457200" y="3182112"/>
            <a:ext cx="457200" cy="566928"/>
          </a:xfrm>
          <a:prstGeom prst="roundRect">
            <a:avLst>
              <a:gd name="adj" fmla="val 12000"/>
            </a:avLst>
          </a:prstGeom>
          <a:solidFill>
            <a:srgbClr val="002060"/>
          </a:solidFill>
          <a:ln/>
        </p:spPr>
        <p:txBody>
          <a:bodyPr/>
          <a:lstStyle/>
          <a:p>
            <a:endParaRPr lang="en-US"/>
          </a:p>
        </p:txBody>
      </p:sp>
      <p:sp>
        <p:nvSpPr>
          <p:cNvPr id="18" name="Text 16"/>
          <p:cNvSpPr/>
          <p:nvPr/>
        </p:nvSpPr>
        <p:spPr>
          <a:xfrm>
            <a:off x="457200" y="3182112"/>
            <a:ext cx="45720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9" name="Text 17"/>
          <p:cNvSpPr/>
          <p:nvPr/>
        </p:nvSpPr>
        <p:spPr>
          <a:xfrm>
            <a:off x="1005840" y="3182112"/>
            <a:ext cx="3474720" cy="566928"/>
          </a:xfrm>
          <a:prstGeom prst="rect">
            <a:avLst/>
          </a:prstGeom>
          <a:noFill/>
          <a:ln/>
        </p:spPr>
        <p:txBody>
          <a:bodyPr wrap="square" lIns="0" tIns="0" rIns="0" bIns="0" rtlCol="0" anchor="ctr"/>
          <a:lstStyle/>
          <a:p>
            <a:pPr marL="0" indent="0">
              <a:buNone/>
            </a:pPr>
            <a:r>
              <a:rPr lang="en-US" sz="1300" dirty="0">
                <a:solidFill>
                  <a:srgbClr val="1B2A4A"/>
                </a:solidFill>
                <a:latin typeface="Calibri" pitchFamily="34" charset="0"/>
                <a:ea typeface="Calibri" pitchFamily="34" charset="-122"/>
                <a:cs typeface="Calibri" pitchFamily="34" charset="-120"/>
              </a:rPr>
              <a:t>Company Performance Analysis</a:t>
            </a:r>
            <a:endParaRPr lang="en-US" sz="1300" dirty="0"/>
          </a:p>
        </p:txBody>
      </p:sp>
      <p:sp>
        <p:nvSpPr>
          <p:cNvPr id="20" name="Shape 18"/>
          <p:cNvSpPr/>
          <p:nvPr/>
        </p:nvSpPr>
        <p:spPr>
          <a:xfrm>
            <a:off x="457200" y="3877056"/>
            <a:ext cx="4114800" cy="566928"/>
          </a:xfrm>
          <a:prstGeom prst="roundRect">
            <a:avLst>
              <a:gd name="adj" fmla="val 12903"/>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21" name="Shape 19"/>
          <p:cNvSpPr/>
          <p:nvPr/>
        </p:nvSpPr>
        <p:spPr>
          <a:xfrm>
            <a:off x="457200" y="3877056"/>
            <a:ext cx="457200" cy="566928"/>
          </a:xfrm>
          <a:prstGeom prst="roundRect">
            <a:avLst>
              <a:gd name="adj" fmla="val 12000"/>
            </a:avLst>
          </a:prstGeom>
          <a:solidFill>
            <a:srgbClr val="002060"/>
          </a:solidFill>
          <a:ln/>
        </p:spPr>
        <p:txBody>
          <a:bodyPr/>
          <a:lstStyle/>
          <a:p>
            <a:endParaRPr lang="en-US"/>
          </a:p>
        </p:txBody>
      </p:sp>
      <p:sp>
        <p:nvSpPr>
          <p:cNvPr id="22" name="Text 20"/>
          <p:cNvSpPr/>
          <p:nvPr/>
        </p:nvSpPr>
        <p:spPr>
          <a:xfrm>
            <a:off x="457200" y="3877056"/>
            <a:ext cx="45720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3" name="Text 21"/>
          <p:cNvSpPr/>
          <p:nvPr/>
        </p:nvSpPr>
        <p:spPr>
          <a:xfrm>
            <a:off x="1005840" y="3877056"/>
            <a:ext cx="3474720" cy="566928"/>
          </a:xfrm>
          <a:prstGeom prst="rect">
            <a:avLst/>
          </a:prstGeom>
          <a:noFill/>
          <a:ln/>
        </p:spPr>
        <p:txBody>
          <a:bodyPr wrap="square" lIns="0" tIns="0" rIns="0" bIns="0" rtlCol="0" anchor="ctr"/>
          <a:lstStyle/>
          <a:p>
            <a:pPr marL="0" indent="0">
              <a:buNone/>
            </a:pPr>
            <a:r>
              <a:rPr lang="en-US" sz="1300" dirty="0">
                <a:solidFill>
                  <a:srgbClr val="1B2A4A"/>
                </a:solidFill>
                <a:latin typeface="Calibri" pitchFamily="34" charset="0"/>
                <a:ea typeface="Calibri" pitchFamily="34" charset="-122"/>
                <a:cs typeface="Calibri" pitchFamily="34" charset="-120"/>
              </a:rPr>
              <a:t>Industry Analysis</a:t>
            </a:r>
            <a:endParaRPr lang="en-US" sz="1300" dirty="0"/>
          </a:p>
        </p:txBody>
      </p:sp>
      <p:sp>
        <p:nvSpPr>
          <p:cNvPr id="24" name="Shape 22"/>
          <p:cNvSpPr/>
          <p:nvPr/>
        </p:nvSpPr>
        <p:spPr>
          <a:xfrm>
            <a:off x="4846320" y="1097280"/>
            <a:ext cx="4114800" cy="566928"/>
          </a:xfrm>
          <a:prstGeom prst="roundRect">
            <a:avLst>
              <a:gd name="adj" fmla="val 12903"/>
            </a:avLst>
          </a:prstGeom>
          <a:solidFill>
            <a:srgbClr val="E3EAF4"/>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25" name="Shape 23"/>
          <p:cNvSpPr/>
          <p:nvPr/>
        </p:nvSpPr>
        <p:spPr>
          <a:xfrm>
            <a:off x="4846320" y="1097280"/>
            <a:ext cx="457200" cy="566928"/>
          </a:xfrm>
          <a:prstGeom prst="roundRect">
            <a:avLst>
              <a:gd name="adj" fmla="val 12000"/>
            </a:avLst>
          </a:prstGeom>
          <a:solidFill>
            <a:srgbClr val="002060"/>
          </a:solidFill>
          <a:ln/>
        </p:spPr>
        <p:txBody>
          <a:bodyPr/>
          <a:lstStyle/>
          <a:p>
            <a:endParaRPr lang="en-US"/>
          </a:p>
        </p:txBody>
      </p:sp>
      <p:sp>
        <p:nvSpPr>
          <p:cNvPr id="26" name="Text 24"/>
          <p:cNvSpPr/>
          <p:nvPr/>
        </p:nvSpPr>
        <p:spPr>
          <a:xfrm>
            <a:off x="4846320" y="1097280"/>
            <a:ext cx="45720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27" name="Text 25"/>
          <p:cNvSpPr/>
          <p:nvPr/>
        </p:nvSpPr>
        <p:spPr>
          <a:xfrm>
            <a:off x="5394960" y="1097280"/>
            <a:ext cx="3474720" cy="566928"/>
          </a:xfrm>
          <a:prstGeom prst="rect">
            <a:avLst/>
          </a:prstGeom>
          <a:noFill/>
          <a:ln/>
        </p:spPr>
        <p:txBody>
          <a:bodyPr wrap="square" lIns="0" tIns="0" rIns="0" bIns="0" rtlCol="0" anchor="ctr"/>
          <a:lstStyle/>
          <a:p>
            <a:pPr marL="0" indent="0">
              <a:buNone/>
            </a:pPr>
            <a:r>
              <a:rPr lang="en-US" sz="1300" dirty="0">
                <a:solidFill>
                  <a:srgbClr val="1B2A4A"/>
                </a:solidFill>
                <a:latin typeface="Calibri" pitchFamily="34" charset="0"/>
                <a:ea typeface="Calibri" pitchFamily="34" charset="-122"/>
                <a:cs typeface="Calibri" pitchFamily="34" charset="-120"/>
              </a:rPr>
              <a:t>Geographic Analysis</a:t>
            </a:r>
            <a:endParaRPr lang="en-US" sz="1300" dirty="0"/>
          </a:p>
        </p:txBody>
      </p:sp>
      <p:sp>
        <p:nvSpPr>
          <p:cNvPr id="28" name="Shape 26"/>
          <p:cNvSpPr/>
          <p:nvPr/>
        </p:nvSpPr>
        <p:spPr>
          <a:xfrm>
            <a:off x="4846320" y="1792224"/>
            <a:ext cx="4114800" cy="566928"/>
          </a:xfrm>
          <a:prstGeom prst="roundRect">
            <a:avLst>
              <a:gd name="adj" fmla="val 12903"/>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29" name="Shape 27"/>
          <p:cNvSpPr/>
          <p:nvPr/>
        </p:nvSpPr>
        <p:spPr>
          <a:xfrm>
            <a:off x="4846320" y="1792224"/>
            <a:ext cx="457200" cy="566928"/>
          </a:xfrm>
          <a:prstGeom prst="roundRect">
            <a:avLst>
              <a:gd name="adj" fmla="val 12000"/>
            </a:avLst>
          </a:prstGeom>
          <a:solidFill>
            <a:srgbClr val="002060"/>
          </a:solidFill>
          <a:ln/>
        </p:spPr>
        <p:txBody>
          <a:bodyPr/>
          <a:lstStyle/>
          <a:p>
            <a:endParaRPr lang="en-US"/>
          </a:p>
        </p:txBody>
      </p:sp>
      <p:sp>
        <p:nvSpPr>
          <p:cNvPr id="30" name="Text 28"/>
          <p:cNvSpPr/>
          <p:nvPr/>
        </p:nvSpPr>
        <p:spPr>
          <a:xfrm>
            <a:off x="4846320" y="1792224"/>
            <a:ext cx="45720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31" name="Text 29"/>
          <p:cNvSpPr/>
          <p:nvPr/>
        </p:nvSpPr>
        <p:spPr>
          <a:xfrm>
            <a:off x="5394960" y="1792224"/>
            <a:ext cx="3474720" cy="566928"/>
          </a:xfrm>
          <a:prstGeom prst="rect">
            <a:avLst/>
          </a:prstGeom>
          <a:noFill/>
          <a:ln/>
        </p:spPr>
        <p:txBody>
          <a:bodyPr wrap="square" lIns="0" tIns="0" rIns="0" bIns="0" rtlCol="0" anchor="ctr"/>
          <a:lstStyle/>
          <a:p>
            <a:pPr marL="0" indent="0">
              <a:buNone/>
            </a:pPr>
            <a:r>
              <a:rPr lang="en-US" sz="1300" dirty="0">
                <a:solidFill>
                  <a:srgbClr val="1B2A4A"/>
                </a:solidFill>
                <a:latin typeface="Calibri" pitchFamily="34" charset="0"/>
                <a:ea typeface="Calibri" pitchFamily="34" charset="-122"/>
                <a:cs typeface="Calibri" pitchFamily="34" charset="-120"/>
              </a:rPr>
              <a:t>Investment Intelligence</a:t>
            </a:r>
            <a:endParaRPr lang="en-US" sz="1300" dirty="0"/>
          </a:p>
        </p:txBody>
      </p:sp>
      <p:sp>
        <p:nvSpPr>
          <p:cNvPr id="32" name="Shape 30"/>
          <p:cNvSpPr/>
          <p:nvPr/>
        </p:nvSpPr>
        <p:spPr>
          <a:xfrm>
            <a:off x="4846320" y="2487168"/>
            <a:ext cx="4114800" cy="566928"/>
          </a:xfrm>
          <a:prstGeom prst="roundRect">
            <a:avLst>
              <a:gd name="adj" fmla="val 12903"/>
            </a:avLst>
          </a:prstGeom>
          <a:solidFill>
            <a:srgbClr val="E3EAF4"/>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33" name="Shape 31"/>
          <p:cNvSpPr/>
          <p:nvPr/>
        </p:nvSpPr>
        <p:spPr>
          <a:xfrm>
            <a:off x="4846320" y="2487168"/>
            <a:ext cx="457200" cy="566928"/>
          </a:xfrm>
          <a:prstGeom prst="roundRect">
            <a:avLst>
              <a:gd name="adj" fmla="val 12000"/>
            </a:avLst>
          </a:prstGeom>
          <a:solidFill>
            <a:srgbClr val="002060"/>
          </a:solidFill>
          <a:ln/>
        </p:spPr>
        <p:txBody>
          <a:bodyPr/>
          <a:lstStyle/>
          <a:p>
            <a:endParaRPr lang="en-US"/>
          </a:p>
        </p:txBody>
      </p:sp>
      <p:sp>
        <p:nvSpPr>
          <p:cNvPr id="34" name="Text 32"/>
          <p:cNvSpPr/>
          <p:nvPr/>
        </p:nvSpPr>
        <p:spPr>
          <a:xfrm>
            <a:off x="4846320" y="2487168"/>
            <a:ext cx="45720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35" name="Text 33"/>
          <p:cNvSpPr/>
          <p:nvPr/>
        </p:nvSpPr>
        <p:spPr>
          <a:xfrm>
            <a:off x="5394960" y="2487168"/>
            <a:ext cx="3474720" cy="566928"/>
          </a:xfrm>
          <a:prstGeom prst="rect">
            <a:avLst/>
          </a:prstGeom>
          <a:noFill/>
          <a:ln/>
        </p:spPr>
        <p:txBody>
          <a:bodyPr wrap="square" lIns="0" tIns="0" rIns="0" bIns="0" rtlCol="0" anchor="ctr"/>
          <a:lstStyle/>
          <a:p>
            <a:pPr marL="0" indent="0">
              <a:buNone/>
            </a:pPr>
            <a:r>
              <a:rPr lang="en-US" sz="1300" dirty="0">
                <a:solidFill>
                  <a:srgbClr val="1B2A4A"/>
                </a:solidFill>
                <a:latin typeface="Calibri" pitchFamily="34" charset="0"/>
                <a:ea typeface="Calibri" pitchFamily="34" charset="-122"/>
                <a:cs typeface="Calibri" pitchFamily="34" charset="-120"/>
              </a:rPr>
              <a:t>Key Insights &amp; Strategic Recommendations</a:t>
            </a:r>
            <a:endParaRPr lang="en-US" sz="1300" dirty="0"/>
          </a:p>
        </p:txBody>
      </p:sp>
      <p:sp>
        <p:nvSpPr>
          <p:cNvPr id="36" name="Shape 34"/>
          <p:cNvSpPr/>
          <p:nvPr/>
        </p:nvSpPr>
        <p:spPr>
          <a:xfrm>
            <a:off x="4846320" y="3182112"/>
            <a:ext cx="4114800" cy="566928"/>
          </a:xfrm>
          <a:prstGeom prst="roundRect">
            <a:avLst>
              <a:gd name="adj" fmla="val 12903"/>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37" name="Shape 35"/>
          <p:cNvSpPr/>
          <p:nvPr/>
        </p:nvSpPr>
        <p:spPr>
          <a:xfrm>
            <a:off x="4846320" y="3182112"/>
            <a:ext cx="457200" cy="566928"/>
          </a:xfrm>
          <a:prstGeom prst="roundRect">
            <a:avLst>
              <a:gd name="adj" fmla="val 12000"/>
            </a:avLst>
          </a:prstGeom>
          <a:solidFill>
            <a:srgbClr val="002060"/>
          </a:solidFill>
          <a:ln/>
        </p:spPr>
        <p:txBody>
          <a:bodyPr/>
          <a:lstStyle/>
          <a:p>
            <a:endParaRPr lang="en-US"/>
          </a:p>
        </p:txBody>
      </p:sp>
      <p:sp>
        <p:nvSpPr>
          <p:cNvPr id="38" name="Text 36"/>
          <p:cNvSpPr/>
          <p:nvPr/>
        </p:nvSpPr>
        <p:spPr>
          <a:xfrm>
            <a:off x="4846320" y="3182112"/>
            <a:ext cx="45720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09</a:t>
            </a:r>
            <a:endParaRPr lang="en-US" sz="1200" dirty="0"/>
          </a:p>
        </p:txBody>
      </p:sp>
      <p:sp>
        <p:nvSpPr>
          <p:cNvPr id="39" name="Text 37"/>
          <p:cNvSpPr/>
          <p:nvPr/>
        </p:nvSpPr>
        <p:spPr>
          <a:xfrm>
            <a:off x="5394960" y="3182112"/>
            <a:ext cx="3474720" cy="566928"/>
          </a:xfrm>
          <a:prstGeom prst="rect">
            <a:avLst/>
          </a:prstGeom>
          <a:noFill/>
          <a:ln/>
        </p:spPr>
        <p:txBody>
          <a:bodyPr wrap="square" lIns="0" tIns="0" rIns="0" bIns="0" rtlCol="0" anchor="ctr"/>
          <a:lstStyle/>
          <a:p>
            <a:pPr marL="0" indent="0">
              <a:buNone/>
            </a:pPr>
            <a:r>
              <a:rPr lang="en-US" sz="1300" dirty="0">
                <a:solidFill>
                  <a:srgbClr val="1B2A4A"/>
                </a:solidFill>
                <a:latin typeface="Calibri" pitchFamily="34" charset="0"/>
                <a:ea typeface="Calibri" pitchFamily="34" charset="-122"/>
                <a:cs typeface="Calibri" pitchFamily="34" charset="-120"/>
              </a:rPr>
              <a:t>Conclusion &amp; Next Steps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PROJECT OVERVIEW</a:t>
            </a:r>
            <a:endParaRPr lang="en-US" sz="2600" dirty="0"/>
          </a:p>
        </p:txBody>
      </p:sp>
      <p:sp>
        <p:nvSpPr>
          <p:cNvPr id="4" name="Shape 2"/>
          <p:cNvSpPr/>
          <p:nvPr/>
        </p:nvSpPr>
        <p:spPr>
          <a:xfrm>
            <a:off x="365760" y="1051560"/>
            <a:ext cx="2651760" cy="3474720"/>
          </a:xfrm>
          <a:prstGeom prst="roundRect">
            <a:avLst>
              <a:gd name="adj" fmla="val 3448"/>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5" name="Shape 3"/>
          <p:cNvSpPr/>
          <p:nvPr/>
        </p:nvSpPr>
        <p:spPr>
          <a:xfrm>
            <a:off x="365760" y="1051560"/>
            <a:ext cx="2651760" cy="475488"/>
          </a:xfrm>
          <a:prstGeom prst="roundRect">
            <a:avLst>
              <a:gd name="adj" fmla="val 19231"/>
            </a:avLst>
          </a:prstGeom>
          <a:solidFill>
            <a:srgbClr val="002060"/>
          </a:solidFill>
          <a:ln/>
        </p:spPr>
        <p:txBody>
          <a:bodyPr/>
          <a:lstStyle/>
          <a:p>
            <a:endParaRPr lang="en-US"/>
          </a:p>
        </p:txBody>
      </p:sp>
      <p:sp>
        <p:nvSpPr>
          <p:cNvPr id="6" name="Text 4"/>
          <p:cNvSpPr/>
          <p:nvPr/>
        </p:nvSpPr>
        <p:spPr>
          <a:xfrm>
            <a:off x="365760" y="1051560"/>
            <a:ext cx="265176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THE BUSINESS PROBLEM</a:t>
            </a:r>
            <a:endParaRPr lang="en-US" sz="1100" dirty="0"/>
          </a:p>
        </p:txBody>
      </p:sp>
      <p:sp>
        <p:nvSpPr>
          <p:cNvPr id="7" name="Text 5"/>
          <p:cNvSpPr/>
          <p:nvPr/>
        </p:nvSpPr>
        <p:spPr>
          <a:xfrm>
            <a:off x="502920" y="1645920"/>
            <a:ext cx="2377440" cy="2743200"/>
          </a:xfrm>
          <a:prstGeom prst="rect">
            <a:avLst/>
          </a:prstGeom>
          <a:noFill/>
          <a:ln/>
        </p:spPr>
        <p:txBody>
          <a:bodyPr wrap="square" lIns="0" tIns="0" rIns="0" bIns="0" rtlCol="0" anchor="t"/>
          <a:lstStyle/>
          <a:p>
            <a:pPr marL="0" indent="0">
              <a:buNone/>
            </a:pPr>
            <a:r>
              <a:rPr lang="en-US" sz="1250" dirty="0">
                <a:solidFill>
                  <a:srgbClr val="1B2A4A"/>
                </a:solidFill>
                <a:latin typeface="Calibri" pitchFamily="34" charset="0"/>
                <a:ea typeface="Calibri" pitchFamily="34" charset="-122"/>
                <a:cs typeface="Calibri" pitchFamily="34" charset="-120"/>
              </a:rPr>
              <a:t>SmartCorp manages a diverse global portfolio but lacks clear visibility into performance, underperforming assets, and where to invest next.</a:t>
            </a:r>
            <a:endParaRPr lang="en-US" sz="1250" dirty="0"/>
          </a:p>
        </p:txBody>
      </p:sp>
      <p:sp>
        <p:nvSpPr>
          <p:cNvPr id="8" name="Shape 6"/>
          <p:cNvSpPr/>
          <p:nvPr/>
        </p:nvSpPr>
        <p:spPr>
          <a:xfrm>
            <a:off x="3200400" y="1051560"/>
            <a:ext cx="2651760" cy="3474720"/>
          </a:xfrm>
          <a:prstGeom prst="roundRect">
            <a:avLst>
              <a:gd name="adj" fmla="val 3448"/>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9" name="Shape 7"/>
          <p:cNvSpPr/>
          <p:nvPr/>
        </p:nvSpPr>
        <p:spPr>
          <a:xfrm>
            <a:off x="3200400" y="1051560"/>
            <a:ext cx="2651760" cy="475488"/>
          </a:xfrm>
          <a:prstGeom prst="roundRect">
            <a:avLst>
              <a:gd name="adj" fmla="val 19231"/>
            </a:avLst>
          </a:prstGeom>
          <a:solidFill>
            <a:srgbClr val="002060"/>
          </a:solidFill>
          <a:ln/>
        </p:spPr>
        <p:txBody>
          <a:bodyPr/>
          <a:lstStyle/>
          <a:p>
            <a:endParaRPr lang="en-US"/>
          </a:p>
        </p:txBody>
      </p:sp>
      <p:sp>
        <p:nvSpPr>
          <p:cNvPr id="10" name="Text 8"/>
          <p:cNvSpPr/>
          <p:nvPr/>
        </p:nvSpPr>
        <p:spPr>
          <a:xfrm>
            <a:off x="3200400" y="1051560"/>
            <a:ext cx="265176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OUR OBJECTIVE</a:t>
            </a:r>
            <a:endParaRPr lang="en-US" sz="1100" dirty="0"/>
          </a:p>
        </p:txBody>
      </p:sp>
      <p:sp>
        <p:nvSpPr>
          <p:cNvPr id="11" name="Text 9"/>
          <p:cNvSpPr/>
          <p:nvPr/>
        </p:nvSpPr>
        <p:spPr>
          <a:xfrm>
            <a:off x="3337560" y="1645920"/>
            <a:ext cx="2377440" cy="2743200"/>
          </a:xfrm>
          <a:prstGeom prst="rect">
            <a:avLst/>
          </a:prstGeom>
          <a:noFill/>
          <a:ln/>
        </p:spPr>
        <p:txBody>
          <a:bodyPr wrap="square" lIns="0" tIns="0" rIns="0" bIns="0" rtlCol="0" anchor="t"/>
          <a:lstStyle/>
          <a:p>
            <a:pPr marL="0" indent="0">
              <a:buNone/>
            </a:pPr>
            <a:r>
              <a:rPr lang="en-US" sz="1250" dirty="0">
                <a:solidFill>
                  <a:srgbClr val="1B2A4A"/>
                </a:solidFill>
                <a:latin typeface="Calibri" pitchFamily="34" charset="0"/>
                <a:ea typeface="Calibri" pitchFamily="34" charset="-122"/>
                <a:cs typeface="Calibri" pitchFamily="34" charset="-120"/>
              </a:rPr>
              <a:t>Analyze 2,000 global companies across Sales, Profit, Assets &amp; Market Value to deliver data-backed strategic recommendations and Key Insight.</a:t>
            </a:r>
            <a:endParaRPr lang="en-US" sz="1250" dirty="0"/>
          </a:p>
        </p:txBody>
      </p:sp>
      <p:sp>
        <p:nvSpPr>
          <p:cNvPr id="12" name="Shape 10"/>
          <p:cNvSpPr/>
          <p:nvPr/>
        </p:nvSpPr>
        <p:spPr>
          <a:xfrm>
            <a:off x="6035040" y="1051560"/>
            <a:ext cx="2651760" cy="3474720"/>
          </a:xfrm>
          <a:prstGeom prst="roundRect">
            <a:avLst>
              <a:gd name="adj" fmla="val 3448"/>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13" name="Shape 11"/>
          <p:cNvSpPr/>
          <p:nvPr/>
        </p:nvSpPr>
        <p:spPr>
          <a:xfrm>
            <a:off x="6035040" y="1051560"/>
            <a:ext cx="2651760" cy="475488"/>
          </a:xfrm>
          <a:prstGeom prst="roundRect">
            <a:avLst>
              <a:gd name="adj" fmla="val 19231"/>
            </a:avLst>
          </a:prstGeom>
          <a:solidFill>
            <a:srgbClr val="002060"/>
          </a:solidFill>
          <a:ln/>
        </p:spPr>
        <p:txBody>
          <a:bodyPr/>
          <a:lstStyle/>
          <a:p>
            <a:endParaRPr lang="en-US"/>
          </a:p>
        </p:txBody>
      </p:sp>
      <p:sp>
        <p:nvSpPr>
          <p:cNvPr id="14" name="Text 12"/>
          <p:cNvSpPr/>
          <p:nvPr/>
        </p:nvSpPr>
        <p:spPr>
          <a:xfrm>
            <a:off x="6035040" y="1051560"/>
            <a:ext cx="265176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STAKEHOLDERS</a:t>
            </a:r>
            <a:endParaRPr lang="en-US" sz="1100" dirty="0"/>
          </a:p>
        </p:txBody>
      </p:sp>
      <p:sp>
        <p:nvSpPr>
          <p:cNvPr id="15" name="Text 13"/>
          <p:cNvSpPr/>
          <p:nvPr/>
        </p:nvSpPr>
        <p:spPr>
          <a:xfrm>
            <a:off x="6172200" y="1645920"/>
            <a:ext cx="2377440" cy="2743200"/>
          </a:xfrm>
          <a:prstGeom prst="rect">
            <a:avLst/>
          </a:prstGeom>
          <a:noFill/>
          <a:ln/>
        </p:spPr>
        <p:txBody>
          <a:bodyPr wrap="square" lIns="0" tIns="0" rIns="0" bIns="0" rtlCol="0" anchor="t"/>
          <a:lstStyle/>
          <a:p>
            <a:pPr marL="0" indent="0">
              <a:buNone/>
            </a:pPr>
            <a:r>
              <a:rPr lang="en-US" sz="1250" dirty="0">
                <a:solidFill>
                  <a:srgbClr val="1B2A4A"/>
                </a:solidFill>
                <a:latin typeface="Calibri" pitchFamily="34" charset="0"/>
                <a:ea typeface="Calibri" pitchFamily="34" charset="-122"/>
                <a:cs typeface="Calibri" pitchFamily="34" charset="-120"/>
              </a:rPr>
              <a:t>Aisha Musa — Head of Corporate Strategy</a:t>
            </a:r>
            <a:endParaRPr lang="en-US" sz="1250" dirty="0"/>
          </a:p>
          <a:p>
            <a:pPr marL="0" indent="0">
              <a:buNone/>
            </a:pPr>
            <a:r>
              <a:rPr lang="en-US" sz="1250" dirty="0">
                <a:solidFill>
                  <a:srgbClr val="1B2A4A"/>
                </a:solidFill>
                <a:latin typeface="Calibri" pitchFamily="34" charset="0"/>
                <a:ea typeface="Calibri" pitchFamily="34" charset="-122"/>
                <a:cs typeface="Calibri" pitchFamily="34" charset="-120"/>
              </a:rPr>
              <a:t>Chinedu Okoli — Chief Business Officer</a:t>
            </a:r>
            <a:endParaRPr lang="en-US" sz="1250" dirty="0"/>
          </a:p>
          <a:p>
            <a:pPr marL="0" indent="0">
              <a:buNone/>
            </a:pPr>
            <a:r>
              <a:rPr lang="en-US" sz="1250" dirty="0">
                <a:solidFill>
                  <a:srgbClr val="1B2A4A"/>
                </a:solidFill>
                <a:latin typeface="Calibri" pitchFamily="34" charset="0"/>
                <a:ea typeface="Calibri" pitchFamily="34" charset="-122"/>
                <a:cs typeface="Calibri" pitchFamily="34" charset="-120"/>
              </a:rPr>
              <a:t>TechCrush Data Analytics Group 20 Team</a:t>
            </a:r>
            <a:endParaRPr lang="en-US" sz="1250" dirty="0"/>
          </a:p>
        </p:txBody>
      </p:sp>
      <p:sp>
        <p:nvSpPr>
          <p:cNvPr id="16" name="Shape 14"/>
          <p:cNvSpPr/>
          <p:nvPr/>
        </p:nvSpPr>
        <p:spPr>
          <a:xfrm>
            <a:off x="365760" y="4617720"/>
            <a:ext cx="8412480" cy="384048"/>
          </a:xfrm>
          <a:prstGeom prst="roundRect">
            <a:avLst>
              <a:gd name="adj" fmla="val 19048"/>
            </a:avLst>
          </a:prstGeom>
          <a:solidFill>
            <a:srgbClr val="0D1B3E"/>
          </a:solidFill>
          <a:ln/>
        </p:spPr>
        <p:txBody>
          <a:bodyPr/>
          <a:lstStyle/>
          <a:p>
            <a:endParaRPr lang="en-US"/>
          </a:p>
        </p:txBody>
      </p:sp>
      <p:sp>
        <p:nvSpPr>
          <p:cNvPr id="17" name="Text 15"/>
          <p:cNvSpPr/>
          <p:nvPr/>
        </p:nvSpPr>
        <p:spPr>
          <a:xfrm>
            <a:off x="365760" y="4617720"/>
            <a:ext cx="8412480" cy="384048"/>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Core Question: Where should SmartCorp focus its energy and capital over the next 1–3 years?</a:t>
            </a:r>
            <a:endParaRPr lang="en-US" sz="12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ABOUT THE DATASET</a:t>
            </a:r>
            <a:endParaRPr lang="en-US" sz="2600" dirty="0"/>
          </a:p>
        </p:txBody>
      </p:sp>
      <p:sp>
        <p:nvSpPr>
          <p:cNvPr id="4" name="Shape 2"/>
          <p:cNvSpPr/>
          <p:nvPr/>
        </p:nvSpPr>
        <p:spPr>
          <a:xfrm>
            <a:off x="365760" y="1005840"/>
            <a:ext cx="1920240" cy="1097280"/>
          </a:xfrm>
          <a:prstGeom prst="roundRect">
            <a:avLst>
              <a:gd name="adj" fmla="val 8333"/>
            </a:avLst>
          </a:prstGeom>
          <a:solidFill>
            <a:srgbClr val="002060"/>
          </a:solidFill>
          <a:ln/>
          <a:effectLst>
            <a:outerShdw blurRad="76200" dist="25400" dir="2700000" algn="bl" rotWithShape="0">
              <a:srgbClr val="000000">
                <a:alpha val="13000"/>
              </a:srgbClr>
            </a:outerShdw>
          </a:effectLst>
        </p:spPr>
        <p:txBody>
          <a:bodyPr/>
          <a:lstStyle/>
          <a:p>
            <a:endParaRPr lang="en-US"/>
          </a:p>
        </p:txBody>
      </p:sp>
      <p:sp>
        <p:nvSpPr>
          <p:cNvPr id="5" name="Text 3"/>
          <p:cNvSpPr/>
          <p:nvPr/>
        </p:nvSpPr>
        <p:spPr>
          <a:xfrm>
            <a:off x="365760" y="1005840"/>
            <a:ext cx="1920240" cy="640080"/>
          </a:xfrm>
          <a:prstGeom prst="rect">
            <a:avLst/>
          </a:prstGeom>
          <a:noFill/>
          <a:ln/>
        </p:spPr>
        <p:txBody>
          <a:bodyPr wrap="square" lIns="0" tIns="0" rIns="0" bIns="0"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2,000</a:t>
            </a:r>
            <a:endParaRPr lang="en-US" sz="2800" dirty="0"/>
          </a:p>
        </p:txBody>
      </p:sp>
      <p:sp>
        <p:nvSpPr>
          <p:cNvPr id="6" name="Text 4"/>
          <p:cNvSpPr/>
          <p:nvPr/>
        </p:nvSpPr>
        <p:spPr>
          <a:xfrm>
            <a:off x="365760" y="1600200"/>
            <a:ext cx="1920240" cy="411480"/>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Global Companies</a:t>
            </a:r>
            <a:endParaRPr lang="en-US" sz="1100" dirty="0"/>
          </a:p>
        </p:txBody>
      </p:sp>
      <p:sp>
        <p:nvSpPr>
          <p:cNvPr id="7" name="Shape 5"/>
          <p:cNvSpPr/>
          <p:nvPr/>
        </p:nvSpPr>
        <p:spPr>
          <a:xfrm>
            <a:off x="2468880" y="1005840"/>
            <a:ext cx="1920240" cy="1097280"/>
          </a:xfrm>
          <a:prstGeom prst="roundRect">
            <a:avLst>
              <a:gd name="adj" fmla="val 8333"/>
            </a:avLst>
          </a:prstGeom>
          <a:solidFill>
            <a:srgbClr val="002060"/>
          </a:solidFill>
          <a:ln/>
          <a:effectLst>
            <a:outerShdw blurRad="76200" dist="25400" dir="2700000" algn="bl" rotWithShape="0">
              <a:srgbClr val="000000">
                <a:alpha val="13000"/>
              </a:srgbClr>
            </a:outerShdw>
          </a:effectLst>
        </p:spPr>
        <p:txBody>
          <a:bodyPr/>
          <a:lstStyle/>
          <a:p>
            <a:endParaRPr lang="en-US"/>
          </a:p>
        </p:txBody>
      </p:sp>
      <p:sp>
        <p:nvSpPr>
          <p:cNvPr id="8" name="Text 6"/>
          <p:cNvSpPr/>
          <p:nvPr/>
        </p:nvSpPr>
        <p:spPr>
          <a:xfrm>
            <a:off x="2468880" y="1005840"/>
            <a:ext cx="1920240" cy="640080"/>
          </a:xfrm>
          <a:prstGeom prst="rect">
            <a:avLst/>
          </a:prstGeom>
          <a:noFill/>
          <a:ln/>
        </p:spPr>
        <p:txBody>
          <a:bodyPr wrap="square" lIns="0" tIns="0" rIns="0" bIns="0"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8</a:t>
            </a:r>
            <a:endParaRPr lang="en-US" sz="2800" dirty="0"/>
          </a:p>
        </p:txBody>
      </p:sp>
      <p:sp>
        <p:nvSpPr>
          <p:cNvPr id="9" name="Text 7"/>
          <p:cNvSpPr/>
          <p:nvPr/>
        </p:nvSpPr>
        <p:spPr>
          <a:xfrm>
            <a:off x="2468880" y="1600200"/>
            <a:ext cx="1920240" cy="411480"/>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Original Columns</a:t>
            </a:r>
            <a:endParaRPr lang="en-US" sz="1100" dirty="0"/>
          </a:p>
        </p:txBody>
      </p:sp>
      <p:sp>
        <p:nvSpPr>
          <p:cNvPr id="10" name="Shape 8"/>
          <p:cNvSpPr/>
          <p:nvPr/>
        </p:nvSpPr>
        <p:spPr>
          <a:xfrm>
            <a:off x="4572000" y="1005840"/>
            <a:ext cx="1920240" cy="1097280"/>
          </a:xfrm>
          <a:prstGeom prst="roundRect">
            <a:avLst>
              <a:gd name="adj" fmla="val 8333"/>
            </a:avLst>
          </a:prstGeom>
          <a:solidFill>
            <a:srgbClr val="002060"/>
          </a:solidFill>
          <a:ln/>
          <a:effectLst>
            <a:outerShdw blurRad="76200" dist="25400" dir="2700000" algn="bl" rotWithShape="0">
              <a:srgbClr val="000000">
                <a:alpha val="13000"/>
              </a:srgbClr>
            </a:outerShdw>
          </a:effectLst>
        </p:spPr>
        <p:txBody>
          <a:bodyPr/>
          <a:lstStyle/>
          <a:p>
            <a:endParaRPr lang="en-US"/>
          </a:p>
        </p:txBody>
      </p:sp>
      <p:sp>
        <p:nvSpPr>
          <p:cNvPr id="11" name="Text 9"/>
          <p:cNvSpPr/>
          <p:nvPr/>
        </p:nvSpPr>
        <p:spPr>
          <a:xfrm>
            <a:off x="4572000" y="1005840"/>
            <a:ext cx="1920240" cy="640080"/>
          </a:xfrm>
          <a:prstGeom prst="rect">
            <a:avLst/>
          </a:prstGeom>
          <a:noFill/>
          <a:ln/>
        </p:spPr>
        <p:txBody>
          <a:bodyPr wrap="square" lIns="0" tIns="0" rIns="0" bIns="0"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60+</a:t>
            </a:r>
            <a:endParaRPr lang="en-US" sz="2800" dirty="0"/>
          </a:p>
        </p:txBody>
      </p:sp>
      <p:sp>
        <p:nvSpPr>
          <p:cNvPr id="12" name="Text 10"/>
          <p:cNvSpPr/>
          <p:nvPr/>
        </p:nvSpPr>
        <p:spPr>
          <a:xfrm>
            <a:off x="4572000" y="1600200"/>
            <a:ext cx="1920240" cy="411480"/>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Countries</a:t>
            </a:r>
            <a:endParaRPr lang="en-US" sz="1100" dirty="0"/>
          </a:p>
        </p:txBody>
      </p:sp>
      <p:sp>
        <p:nvSpPr>
          <p:cNvPr id="13" name="Shape 11"/>
          <p:cNvSpPr/>
          <p:nvPr/>
        </p:nvSpPr>
        <p:spPr>
          <a:xfrm>
            <a:off x="6675120" y="1005840"/>
            <a:ext cx="1920240" cy="1097280"/>
          </a:xfrm>
          <a:prstGeom prst="roundRect">
            <a:avLst>
              <a:gd name="adj" fmla="val 8333"/>
            </a:avLst>
          </a:prstGeom>
          <a:solidFill>
            <a:srgbClr val="002060"/>
          </a:solidFill>
          <a:ln/>
          <a:effectLst>
            <a:outerShdw blurRad="76200" dist="25400" dir="2700000" algn="bl" rotWithShape="0">
              <a:srgbClr val="000000">
                <a:alpha val="13000"/>
              </a:srgbClr>
            </a:outerShdw>
          </a:effectLst>
        </p:spPr>
        <p:txBody>
          <a:bodyPr/>
          <a:lstStyle/>
          <a:p>
            <a:endParaRPr lang="en-US"/>
          </a:p>
        </p:txBody>
      </p:sp>
      <p:sp>
        <p:nvSpPr>
          <p:cNvPr id="14" name="Text 12"/>
          <p:cNvSpPr/>
          <p:nvPr/>
        </p:nvSpPr>
        <p:spPr>
          <a:xfrm>
            <a:off x="6675120" y="1005840"/>
            <a:ext cx="1920240" cy="640080"/>
          </a:xfrm>
          <a:prstGeom prst="rect">
            <a:avLst/>
          </a:prstGeom>
          <a:noFill/>
          <a:ln/>
        </p:spPr>
        <p:txBody>
          <a:bodyPr wrap="square" lIns="0" tIns="0" rIns="0" bIns="0" rtlCol="0" anchor="b"/>
          <a:lstStyle/>
          <a:p>
            <a:pPr marL="0" indent="0" algn="ctr">
              <a:buNone/>
            </a:pPr>
            <a:r>
              <a:rPr lang="en-US" sz="2800" b="1" dirty="0">
                <a:solidFill>
                  <a:srgbClr val="FFFFFF"/>
                </a:solidFill>
                <a:latin typeface="Calibri" pitchFamily="34" charset="0"/>
                <a:ea typeface="Calibri" pitchFamily="34" charset="-122"/>
                <a:cs typeface="Calibri" pitchFamily="34" charset="-120"/>
              </a:rPr>
              <a:t>20+</a:t>
            </a:r>
            <a:endParaRPr lang="en-US" sz="2800" dirty="0"/>
          </a:p>
        </p:txBody>
      </p:sp>
      <p:sp>
        <p:nvSpPr>
          <p:cNvPr id="15" name="Text 13"/>
          <p:cNvSpPr/>
          <p:nvPr/>
        </p:nvSpPr>
        <p:spPr>
          <a:xfrm>
            <a:off x="6675120" y="1600200"/>
            <a:ext cx="1920240" cy="411480"/>
          </a:xfrm>
          <a:prstGeom prst="rect">
            <a:avLst/>
          </a:prstGeom>
          <a:noFill/>
          <a:ln/>
        </p:spPr>
        <p:txBody>
          <a:bodyPr wrap="square" lIns="0" tIns="0" rIns="0" bIns="0"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Industries</a:t>
            </a:r>
            <a:endParaRPr lang="en-US" sz="1100" dirty="0"/>
          </a:p>
        </p:txBody>
      </p:sp>
      <p:sp>
        <p:nvSpPr>
          <p:cNvPr id="16" name="Text 14"/>
          <p:cNvSpPr/>
          <p:nvPr/>
        </p:nvSpPr>
        <p:spPr>
          <a:xfrm>
            <a:off x="365760" y="2286000"/>
            <a:ext cx="8412480" cy="320040"/>
          </a:xfrm>
          <a:prstGeom prst="rect">
            <a:avLst/>
          </a:prstGeom>
          <a:noFill/>
          <a:ln/>
        </p:spPr>
        <p:txBody>
          <a:bodyPr wrap="square" lIns="0" tIns="0" rIns="0" bIns="0"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Source: Forbes Global 2000 — 2025  |  Platform: Kaggle  |  Format: CSV</a:t>
            </a:r>
            <a:endParaRPr lang="en-US" sz="1200" dirty="0"/>
          </a:p>
        </p:txBody>
      </p:sp>
      <p:sp>
        <p:nvSpPr>
          <p:cNvPr id="17" name="Shape 15"/>
          <p:cNvSpPr/>
          <p:nvPr/>
        </p:nvSpPr>
        <p:spPr>
          <a:xfrm>
            <a:off x="365760" y="2697480"/>
            <a:ext cx="1920240" cy="411480"/>
          </a:xfrm>
          <a:prstGeom prst="roundRect">
            <a:avLst>
              <a:gd name="adj" fmla="val 15556"/>
            </a:avLst>
          </a:prstGeom>
          <a:solidFill>
            <a:schemeClr val="accent1">
              <a:lumMod val="20000"/>
              <a:lumOff val="80000"/>
            </a:schemeClr>
          </a:solidFill>
          <a:ln>
            <a:solidFill>
              <a:schemeClr val="accent1">
                <a:lumMod val="40000"/>
                <a:lumOff val="60000"/>
              </a:schemeClr>
            </a:solidFill>
          </a:ln>
        </p:spPr>
        <p:txBody>
          <a:bodyPr/>
          <a:lstStyle/>
          <a:p>
            <a:endParaRPr lang="en-US"/>
          </a:p>
        </p:txBody>
      </p:sp>
      <p:sp>
        <p:nvSpPr>
          <p:cNvPr id="18" name="Text 16"/>
          <p:cNvSpPr/>
          <p:nvPr/>
        </p:nvSpPr>
        <p:spPr>
          <a:xfrm>
            <a:off x="365760" y="2697480"/>
            <a:ext cx="1920240" cy="411480"/>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Rank</a:t>
            </a:r>
            <a:endParaRPr lang="en-US" sz="1200" dirty="0"/>
          </a:p>
        </p:txBody>
      </p:sp>
      <p:sp>
        <p:nvSpPr>
          <p:cNvPr id="19" name="Shape 17"/>
          <p:cNvSpPr/>
          <p:nvPr/>
        </p:nvSpPr>
        <p:spPr>
          <a:xfrm>
            <a:off x="2468880" y="2697480"/>
            <a:ext cx="1920240" cy="411480"/>
          </a:xfrm>
          <a:prstGeom prst="roundRect">
            <a:avLst>
              <a:gd name="adj" fmla="val 15556"/>
            </a:avLst>
          </a:prstGeom>
          <a:solidFill>
            <a:schemeClr val="accent1">
              <a:lumMod val="20000"/>
              <a:lumOff val="80000"/>
            </a:schemeClr>
          </a:solidFill>
          <a:ln>
            <a:solidFill>
              <a:schemeClr val="accent1">
                <a:lumMod val="40000"/>
                <a:lumOff val="60000"/>
              </a:schemeClr>
            </a:solidFill>
          </a:ln>
        </p:spPr>
        <p:txBody>
          <a:bodyPr/>
          <a:lstStyle/>
          <a:p>
            <a:endParaRPr lang="en-US"/>
          </a:p>
        </p:txBody>
      </p:sp>
      <p:sp>
        <p:nvSpPr>
          <p:cNvPr id="20" name="Text 18"/>
          <p:cNvSpPr/>
          <p:nvPr/>
        </p:nvSpPr>
        <p:spPr>
          <a:xfrm>
            <a:off x="2468880" y="2697480"/>
            <a:ext cx="1920240" cy="411480"/>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Company</a:t>
            </a:r>
            <a:endParaRPr lang="en-US" sz="1200" dirty="0"/>
          </a:p>
        </p:txBody>
      </p:sp>
      <p:sp>
        <p:nvSpPr>
          <p:cNvPr id="21" name="Shape 19"/>
          <p:cNvSpPr/>
          <p:nvPr/>
        </p:nvSpPr>
        <p:spPr>
          <a:xfrm>
            <a:off x="4572000" y="2697480"/>
            <a:ext cx="1920240" cy="411480"/>
          </a:xfrm>
          <a:prstGeom prst="roundRect">
            <a:avLst>
              <a:gd name="adj" fmla="val 15556"/>
            </a:avLst>
          </a:prstGeom>
          <a:solidFill>
            <a:schemeClr val="accent1">
              <a:lumMod val="20000"/>
              <a:lumOff val="80000"/>
            </a:schemeClr>
          </a:solidFill>
          <a:ln>
            <a:solidFill>
              <a:schemeClr val="accent1">
                <a:lumMod val="40000"/>
                <a:lumOff val="60000"/>
              </a:schemeClr>
            </a:solidFill>
          </a:ln>
        </p:spPr>
        <p:txBody>
          <a:bodyPr/>
          <a:lstStyle/>
          <a:p>
            <a:endParaRPr lang="en-US"/>
          </a:p>
        </p:txBody>
      </p:sp>
      <p:sp>
        <p:nvSpPr>
          <p:cNvPr id="22" name="Text 20"/>
          <p:cNvSpPr/>
          <p:nvPr/>
        </p:nvSpPr>
        <p:spPr>
          <a:xfrm>
            <a:off x="4572000" y="2697480"/>
            <a:ext cx="1920240" cy="411480"/>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Country</a:t>
            </a:r>
            <a:endParaRPr lang="en-US" sz="1200" dirty="0"/>
          </a:p>
        </p:txBody>
      </p:sp>
      <p:sp>
        <p:nvSpPr>
          <p:cNvPr id="23" name="Shape 21"/>
          <p:cNvSpPr/>
          <p:nvPr/>
        </p:nvSpPr>
        <p:spPr>
          <a:xfrm>
            <a:off x="6675120" y="2697480"/>
            <a:ext cx="1920240" cy="411480"/>
          </a:xfrm>
          <a:prstGeom prst="roundRect">
            <a:avLst>
              <a:gd name="adj" fmla="val 15556"/>
            </a:avLst>
          </a:prstGeom>
          <a:solidFill>
            <a:schemeClr val="accent1">
              <a:lumMod val="20000"/>
              <a:lumOff val="80000"/>
            </a:schemeClr>
          </a:solidFill>
          <a:ln>
            <a:solidFill>
              <a:schemeClr val="accent1">
                <a:lumMod val="40000"/>
                <a:lumOff val="60000"/>
              </a:schemeClr>
            </a:solidFill>
          </a:ln>
        </p:spPr>
        <p:txBody>
          <a:bodyPr/>
          <a:lstStyle/>
          <a:p>
            <a:endParaRPr lang="en-US"/>
          </a:p>
        </p:txBody>
      </p:sp>
      <p:sp>
        <p:nvSpPr>
          <p:cNvPr id="24" name="Text 22"/>
          <p:cNvSpPr/>
          <p:nvPr/>
        </p:nvSpPr>
        <p:spPr>
          <a:xfrm>
            <a:off x="6675120" y="2697480"/>
            <a:ext cx="1920240" cy="411480"/>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Industry</a:t>
            </a:r>
            <a:endParaRPr lang="en-US" sz="1200" dirty="0"/>
          </a:p>
        </p:txBody>
      </p:sp>
      <p:sp>
        <p:nvSpPr>
          <p:cNvPr id="25" name="Shape 23"/>
          <p:cNvSpPr/>
          <p:nvPr/>
        </p:nvSpPr>
        <p:spPr>
          <a:xfrm>
            <a:off x="365760" y="3200400"/>
            <a:ext cx="1920240" cy="411480"/>
          </a:xfrm>
          <a:prstGeom prst="roundRect">
            <a:avLst>
              <a:gd name="adj" fmla="val 15556"/>
            </a:avLst>
          </a:prstGeom>
          <a:solidFill>
            <a:schemeClr val="accent1">
              <a:lumMod val="20000"/>
              <a:lumOff val="80000"/>
            </a:schemeClr>
          </a:solidFill>
          <a:ln>
            <a:solidFill>
              <a:schemeClr val="accent1">
                <a:lumMod val="40000"/>
                <a:lumOff val="60000"/>
              </a:schemeClr>
            </a:solidFill>
          </a:ln>
        </p:spPr>
        <p:txBody>
          <a:bodyPr/>
          <a:lstStyle/>
          <a:p>
            <a:endParaRPr lang="en-US"/>
          </a:p>
        </p:txBody>
      </p:sp>
      <p:sp>
        <p:nvSpPr>
          <p:cNvPr id="26" name="Text 24"/>
          <p:cNvSpPr/>
          <p:nvPr/>
        </p:nvSpPr>
        <p:spPr>
          <a:xfrm>
            <a:off x="365760" y="3200400"/>
            <a:ext cx="1920240" cy="411480"/>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Sales ($B)</a:t>
            </a:r>
            <a:endParaRPr lang="en-US" sz="1200" b="1" dirty="0"/>
          </a:p>
        </p:txBody>
      </p:sp>
      <p:sp>
        <p:nvSpPr>
          <p:cNvPr id="27" name="Shape 25"/>
          <p:cNvSpPr/>
          <p:nvPr/>
        </p:nvSpPr>
        <p:spPr>
          <a:xfrm>
            <a:off x="2468880" y="3200400"/>
            <a:ext cx="1920240" cy="411480"/>
          </a:xfrm>
          <a:prstGeom prst="roundRect">
            <a:avLst>
              <a:gd name="adj" fmla="val 15556"/>
            </a:avLst>
          </a:prstGeom>
          <a:solidFill>
            <a:schemeClr val="accent1">
              <a:lumMod val="20000"/>
              <a:lumOff val="80000"/>
            </a:schemeClr>
          </a:solidFill>
          <a:ln>
            <a:solidFill>
              <a:schemeClr val="accent1">
                <a:lumMod val="40000"/>
                <a:lumOff val="60000"/>
              </a:schemeClr>
            </a:solidFill>
          </a:ln>
        </p:spPr>
        <p:txBody>
          <a:bodyPr/>
          <a:lstStyle/>
          <a:p>
            <a:endParaRPr lang="en-US"/>
          </a:p>
        </p:txBody>
      </p:sp>
      <p:sp>
        <p:nvSpPr>
          <p:cNvPr id="28" name="Text 26"/>
          <p:cNvSpPr/>
          <p:nvPr/>
        </p:nvSpPr>
        <p:spPr>
          <a:xfrm>
            <a:off x="2468880" y="3200400"/>
            <a:ext cx="1920240" cy="411480"/>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Profits ($B)</a:t>
            </a:r>
            <a:endParaRPr lang="en-US" sz="1200" b="1" dirty="0"/>
          </a:p>
        </p:txBody>
      </p:sp>
      <p:sp>
        <p:nvSpPr>
          <p:cNvPr id="29" name="Shape 27"/>
          <p:cNvSpPr/>
          <p:nvPr/>
        </p:nvSpPr>
        <p:spPr>
          <a:xfrm>
            <a:off x="4572000" y="3200400"/>
            <a:ext cx="1920240" cy="411480"/>
          </a:xfrm>
          <a:prstGeom prst="roundRect">
            <a:avLst>
              <a:gd name="adj" fmla="val 15556"/>
            </a:avLst>
          </a:prstGeom>
          <a:solidFill>
            <a:schemeClr val="accent1">
              <a:lumMod val="20000"/>
              <a:lumOff val="80000"/>
            </a:schemeClr>
          </a:solidFill>
          <a:ln>
            <a:solidFill>
              <a:schemeClr val="accent1">
                <a:lumMod val="40000"/>
                <a:lumOff val="60000"/>
              </a:schemeClr>
            </a:solidFill>
          </a:ln>
        </p:spPr>
        <p:txBody>
          <a:bodyPr/>
          <a:lstStyle/>
          <a:p>
            <a:endParaRPr lang="en-US"/>
          </a:p>
        </p:txBody>
      </p:sp>
      <p:sp>
        <p:nvSpPr>
          <p:cNvPr id="30" name="Text 28"/>
          <p:cNvSpPr/>
          <p:nvPr/>
        </p:nvSpPr>
        <p:spPr>
          <a:xfrm>
            <a:off x="4572000" y="3200400"/>
            <a:ext cx="1920240" cy="411480"/>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Assets ($B)</a:t>
            </a:r>
            <a:endParaRPr lang="en-US" sz="1200" b="1" dirty="0"/>
          </a:p>
        </p:txBody>
      </p:sp>
      <p:sp>
        <p:nvSpPr>
          <p:cNvPr id="31" name="Shape 29"/>
          <p:cNvSpPr/>
          <p:nvPr/>
        </p:nvSpPr>
        <p:spPr>
          <a:xfrm>
            <a:off x="6675120" y="3200400"/>
            <a:ext cx="1920240" cy="411480"/>
          </a:xfrm>
          <a:prstGeom prst="roundRect">
            <a:avLst>
              <a:gd name="adj" fmla="val 15556"/>
            </a:avLst>
          </a:prstGeom>
          <a:solidFill>
            <a:schemeClr val="accent1">
              <a:lumMod val="20000"/>
              <a:lumOff val="80000"/>
            </a:schemeClr>
          </a:solidFill>
          <a:ln>
            <a:solidFill>
              <a:schemeClr val="accent1">
                <a:lumMod val="40000"/>
                <a:lumOff val="60000"/>
              </a:schemeClr>
            </a:solidFill>
          </a:ln>
        </p:spPr>
        <p:txBody>
          <a:bodyPr/>
          <a:lstStyle/>
          <a:p>
            <a:endParaRPr lang="en-US"/>
          </a:p>
        </p:txBody>
      </p:sp>
      <p:sp>
        <p:nvSpPr>
          <p:cNvPr id="32" name="Text 30"/>
          <p:cNvSpPr/>
          <p:nvPr/>
        </p:nvSpPr>
        <p:spPr>
          <a:xfrm>
            <a:off x="6675120" y="3200400"/>
            <a:ext cx="1920240" cy="411480"/>
          </a:xfrm>
          <a:prstGeom prst="rect">
            <a:avLst/>
          </a:prstGeom>
          <a:noFill/>
          <a:ln/>
        </p:spPr>
        <p:txBody>
          <a:bodyPr wrap="square" lIns="0" tIns="0" rIns="0" bIns="0" rtlCol="0" anchor="ctr"/>
          <a:lstStyle/>
          <a:p>
            <a:pPr marL="0" indent="0" algn="ctr">
              <a:buNone/>
            </a:pPr>
            <a:r>
              <a:rPr lang="en-US" sz="1200" b="1" dirty="0">
                <a:solidFill>
                  <a:srgbClr val="1B2A4A"/>
                </a:solidFill>
                <a:latin typeface="Calibri" pitchFamily="34" charset="0"/>
                <a:ea typeface="Calibri" pitchFamily="34" charset="-122"/>
                <a:cs typeface="Calibri" pitchFamily="34" charset="-120"/>
              </a:rPr>
              <a:t>Market Value ($B)</a:t>
            </a:r>
            <a:endParaRPr lang="en-US" sz="1200" b="1" dirty="0"/>
          </a:p>
        </p:txBody>
      </p:sp>
      <p:sp>
        <p:nvSpPr>
          <p:cNvPr id="33" name="Text 31"/>
          <p:cNvSpPr/>
          <p:nvPr/>
        </p:nvSpPr>
        <p:spPr>
          <a:xfrm>
            <a:off x="365760" y="3749040"/>
            <a:ext cx="8412480" cy="292608"/>
          </a:xfrm>
          <a:prstGeom prst="rect">
            <a:avLst/>
          </a:prstGeom>
          <a:noFill/>
          <a:ln/>
        </p:spPr>
        <p:txBody>
          <a:bodyPr wrap="square" lIns="0" tIns="0" rIns="0" bIns="0" rtlCol="0" anchor="ctr"/>
          <a:lstStyle/>
          <a:p>
            <a:pPr marL="0" indent="0">
              <a:buNone/>
            </a:pPr>
            <a:r>
              <a:rPr lang="en-US" sz="1200" b="1" dirty="0">
                <a:solidFill>
                  <a:srgbClr val="0D1B3E"/>
                </a:solidFill>
                <a:latin typeface="Calibri" pitchFamily="34" charset="0"/>
                <a:ea typeface="Calibri" pitchFamily="34" charset="-122"/>
                <a:cs typeface="Calibri" pitchFamily="34" charset="-120"/>
              </a:rPr>
              <a:t>+ 9 Calculated Columns Added During Cleaning:</a:t>
            </a:r>
            <a:endParaRPr lang="en-US" sz="1200" dirty="0"/>
          </a:p>
        </p:txBody>
      </p:sp>
      <p:sp>
        <p:nvSpPr>
          <p:cNvPr id="34" name="Shape 32"/>
          <p:cNvSpPr/>
          <p:nvPr/>
        </p:nvSpPr>
        <p:spPr>
          <a:xfrm>
            <a:off x="365760" y="4096512"/>
            <a:ext cx="2651760" cy="274320"/>
          </a:xfrm>
          <a:prstGeom prst="roundRect">
            <a:avLst>
              <a:gd name="adj" fmla="val 20000"/>
            </a:avLst>
          </a:prstGeom>
          <a:solidFill>
            <a:srgbClr val="002060"/>
          </a:solidFill>
          <a:ln/>
        </p:spPr>
        <p:txBody>
          <a:bodyPr/>
          <a:lstStyle/>
          <a:p>
            <a:endParaRPr lang="en-US"/>
          </a:p>
        </p:txBody>
      </p:sp>
      <p:sp>
        <p:nvSpPr>
          <p:cNvPr id="35" name="Text 33"/>
          <p:cNvSpPr/>
          <p:nvPr/>
        </p:nvSpPr>
        <p:spPr>
          <a:xfrm>
            <a:off x="365760" y="4096512"/>
            <a:ext cx="2651760" cy="274320"/>
          </a:xfrm>
          <a:prstGeom prst="rect">
            <a:avLst/>
          </a:prstGeom>
          <a:solidFill>
            <a:srgbClr val="002060"/>
          </a:solid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Profit_Margin_%</a:t>
            </a:r>
            <a:endParaRPr lang="en-US" sz="1000" dirty="0">
              <a:solidFill>
                <a:schemeClr val="bg1"/>
              </a:solidFill>
            </a:endParaRPr>
          </a:p>
        </p:txBody>
      </p:sp>
      <p:sp>
        <p:nvSpPr>
          <p:cNvPr id="36" name="Shape 34"/>
          <p:cNvSpPr/>
          <p:nvPr/>
        </p:nvSpPr>
        <p:spPr>
          <a:xfrm>
            <a:off x="3200400" y="4096512"/>
            <a:ext cx="2651760" cy="274320"/>
          </a:xfrm>
          <a:prstGeom prst="roundRect">
            <a:avLst>
              <a:gd name="adj" fmla="val 20000"/>
            </a:avLst>
          </a:prstGeom>
          <a:solidFill>
            <a:srgbClr val="002060"/>
          </a:solidFill>
          <a:ln/>
        </p:spPr>
        <p:txBody>
          <a:bodyPr/>
          <a:lstStyle/>
          <a:p>
            <a:endParaRPr lang="en-US"/>
          </a:p>
        </p:txBody>
      </p:sp>
      <p:sp>
        <p:nvSpPr>
          <p:cNvPr id="37" name="Text 35"/>
          <p:cNvSpPr/>
          <p:nvPr/>
        </p:nvSpPr>
        <p:spPr>
          <a:xfrm>
            <a:off x="3200400" y="4096512"/>
            <a:ext cx="2651760" cy="274320"/>
          </a:xfrm>
          <a:prstGeom prst="rect">
            <a:avLst/>
          </a:prstGeom>
          <a:solidFill>
            <a:srgbClr val="002060"/>
          </a:solid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ROA_%</a:t>
            </a:r>
            <a:endParaRPr lang="en-US" sz="1000" dirty="0">
              <a:solidFill>
                <a:schemeClr val="bg1"/>
              </a:solidFill>
            </a:endParaRPr>
          </a:p>
        </p:txBody>
      </p:sp>
      <p:sp>
        <p:nvSpPr>
          <p:cNvPr id="38" name="Shape 36"/>
          <p:cNvSpPr/>
          <p:nvPr/>
        </p:nvSpPr>
        <p:spPr>
          <a:xfrm>
            <a:off x="6035040" y="4096512"/>
            <a:ext cx="2651760" cy="274320"/>
          </a:xfrm>
          <a:prstGeom prst="roundRect">
            <a:avLst>
              <a:gd name="adj" fmla="val 20000"/>
            </a:avLst>
          </a:prstGeom>
          <a:solidFill>
            <a:srgbClr val="002060"/>
          </a:solidFill>
          <a:ln/>
        </p:spPr>
        <p:txBody>
          <a:bodyPr/>
          <a:lstStyle/>
          <a:p>
            <a:endParaRPr lang="en-US"/>
          </a:p>
        </p:txBody>
      </p:sp>
      <p:sp>
        <p:nvSpPr>
          <p:cNvPr id="39" name="Text 37"/>
          <p:cNvSpPr/>
          <p:nvPr/>
        </p:nvSpPr>
        <p:spPr>
          <a:xfrm>
            <a:off x="6035040" y="4096512"/>
            <a:ext cx="2651760" cy="274320"/>
          </a:xfrm>
          <a:prstGeom prst="rect">
            <a:avLst/>
          </a:prstGeom>
          <a:solidFill>
            <a:srgbClr val="002060"/>
          </a:solid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MV_to_Asset_Ratio</a:t>
            </a:r>
            <a:endParaRPr lang="en-US" sz="1000" dirty="0">
              <a:solidFill>
                <a:schemeClr val="bg1"/>
              </a:solidFill>
            </a:endParaRPr>
          </a:p>
        </p:txBody>
      </p:sp>
      <p:sp>
        <p:nvSpPr>
          <p:cNvPr id="40" name="Shape 38"/>
          <p:cNvSpPr/>
          <p:nvPr/>
        </p:nvSpPr>
        <p:spPr>
          <a:xfrm>
            <a:off x="365760" y="4434840"/>
            <a:ext cx="2651760" cy="274320"/>
          </a:xfrm>
          <a:prstGeom prst="roundRect">
            <a:avLst>
              <a:gd name="adj" fmla="val 20000"/>
            </a:avLst>
          </a:prstGeom>
          <a:solidFill>
            <a:srgbClr val="002060"/>
          </a:solidFill>
          <a:ln/>
        </p:spPr>
        <p:txBody>
          <a:bodyPr/>
          <a:lstStyle/>
          <a:p>
            <a:endParaRPr lang="en-US"/>
          </a:p>
        </p:txBody>
      </p:sp>
      <p:sp>
        <p:nvSpPr>
          <p:cNvPr id="41" name="Text 39"/>
          <p:cNvSpPr/>
          <p:nvPr/>
        </p:nvSpPr>
        <p:spPr>
          <a:xfrm>
            <a:off x="365760" y="4434840"/>
            <a:ext cx="2651760" cy="274320"/>
          </a:xfrm>
          <a:prstGeom prst="rect">
            <a:avLst/>
          </a:prstGeom>
          <a:solidFill>
            <a:srgbClr val="002060"/>
          </a:solid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Sales_to_MV_Ratio</a:t>
            </a:r>
            <a:endParaRPr lang="en-US" sz="1000" dirty="0">
              <a:solidFill>
                <a:schemeClr val="bg1"/>
              </a:solidFill>
            </a:endParaRPr>
          </a:p>
        </p:txBody>
      </p:sp>
      <p:sp>
        <p:nvSpPr>
          <p:cNvPr id="42" name="Shape 40"/>
          <p:cNvSpPr/>
          <p:nvPr/>
        </p:nvSpPr>
        <p:spPr>
          <a:xfrm>
            <a:off x="3200400" y="4434840"/>
            <a:ext cx="2651760" cy="274320"/>
          </a:xfrm>
          <a:prstGeom prst="roundRect">
            <a:avLst>
              <a:gd name="adj" fmla="val 20000"/>
            </a:avLst>
          </a:prstGeom>
          <a:solidFill>
            <a:srgbClr val="002060"/>
          </a:solidFill>
          <a:ln/>
        </p:spPr>
        <p:txBody>
          <a:bodyPr/>
          <a:lstStyle/>
          <a:p>
            <a:endParaRPr lang="en-US"/>
          </a:p>
        </p:txBody>
      </p:sp>
      <p:sp>
        <p:nvSpPr>
          <p:cNvPr id="43" name="Text 41"/>
          <p:cNvSpPr/>
          <p:nvPr/>
        </p:nvSpPr>
        <p:spPr>
          <a:xfrm>
            <a:off x="3200400" y="4434840"/>
            <a:ext cx="2651760" cy="274320"/>
          </a:xfrm>
          <a:prstGeom prst="rect">
            <a:avLst/>
          </a:prstGeom>
          <a:solidFill>
            <a:srgbClr val="002060"/>
          </a:solid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Performance_Status</a:t>
            </a:r>
            <a:endParaRPr lang="en-US" sz="1000" dirty="0">
              <a:solidFill>
                <a:schemeClr val="bg1"/>
              </a:solidFill>
            </a:endParaRPr>
          </a:p>
        </p:txBody>
      </p:sp>
      <p:sp>
        <p:nvSpPr>
          <p:cNvPr id="44" name="Shape 42"/>
          <p:cNvSpPr/>
          <p:nvPr/>
        </p:nvSpPr>
        <p:spPr>
          <a:xfrm>
            <a:off x="6035040" y="4434840"/>
            <a:ext cx="2651760" cy="274320"/>
          </a:xfrm>
          <a:prstGeom prst="roundRect">
            <a:avLst>
              <a:gd name="adj" fmla="val 20000"/>
            </a:avLst>
          </a:prstGeom>
          <a:solidFill>
            <a:srgbClr val="002060"/>
          </a:solidFill>
          <a:ln/>
        </p:spPr>
        <p:txBody>
          <a:bodyPr/>
          <a:lstStyle/>
          <a:p>
            <a:endParaRPr lang="en-US"/>
          </a:p>
        </p:txBody>
      </p:sp>
      <p:sp>
        <p:nvSpPr>
          <p:cNvPr id="45" name="Text 43"/>
          <p:cNvSpPr/>
          <p:nvPr/>
        </p:nvSpPr>
        <p:spPr>
          <a:xfrm>
            <a:off x="6035040" y="4434840"/>
            <a:ext cx="2651760" cy="274320"/>
          </a:xfrm>
          <a:prstGeom prst="rect">
            <a:avLst/>
          </a:prstGeom>
          <a:solidFill>
            <a:srgbClr val="002060"/>
          </a:solid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Size_Level</a:t>
            </a:r>
            <a:endParaRPr lang="en-US" sz="1000" dirty="0">
              <a:solidFill>
                <a:schemeClr val="bg1"/>
              </a:solidFill>
            </a:endParaRPr>
          </a:p>
        </p:txBody>
      </p:sp>
      <p:sp>
        <p:nvSpPr>
          <p:cNvPr id="46" name="Shape 44"/>
          <p:cNvSpPr/>
          <p:nvPr/>
        </p:nvSpPr>
        <p:spPr>
          <a:xfrm>
            <a:off x="365760" y="4773168"/>
            <a:ext cx="2651760" cy="274320"/>
          </a:xfrm>
          <a:prstGeom prst="roundRect">
            <a:avLst>
              <a:gd name="adj" fmla="val 20000"/>
            </a:avLst>
          </a:prstGeom>
          <a:solidFill>
            <a:srgbClr val="002060"/>
          </a:solidFill>
          <a:ln/>
        </p:spPr>
        <p:txBody>
          <a:bodyPr/>
          <a:lstStyle/>
          <a:p>
            <a:endParaRPr lang="en-US"/>
          </a:p>
        </p:txBody>
      </p:sp>
      <p:sp>
        <p:nvSpPr>
          <p:cNvPr id="47" name="Text 45"/>
          <p:cNvSpPr/>
          <p:nvPr/>
        </p:nvSpPr>
        <p:spPr>
          <a:xfrm>
            <a:off x="365760" y="4773168"/>
            <a:ext cx="2651760" cy="274320"/>
          </a:xfrm>
          <a:prstGeom prst="rect">
            <a:avLst/>
          </a:prstGeom>
          <a:solidFill>
            <a:srgbClr val="002060"/>
          </a:solid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Investment_Score</a:t>
            </a:r>
            <a:endParaRPr lang="en-US" sz="1000" dirty="0">
              <a:solidFill>
                <a:schemeClr val="bg1"/>
              </a:solidFill>
            </a:endParaRPr>
          </a:p>
        </p:txBody>
      </p:sp>
      <p:sp>
        <p:nvSpPr>
          <p:cNvPr id="48" name="Shape 46"/>
          <p:cNvSpPr/>
          <p:nvPr/>
        </p:nvSpPr>
        <p:spPr>
          <a:xfrm>
            <a:off x="3200400" y="4773168"/>
            <a:ext cx="2651760" cy="274320"/>
          </a:xfrm>
          <a:prstGeom prst="roundRect">
            <a:avLst>
              <a:gd name="adj" fmla="val 20000"/>
            </a:avLst>
          </a:prstGeom>
          <a:solidFill>
            <a:srgbClr val="002060"/>
          </a:solidFill>
          <a:ln/>
        </p:spPr>
        <p:txBody>
          <a:bodyPr/>
          <a:lstStyle/>
          <a:p>
            <a:endParaRPr lang="en-US"/>
          </a:p>
        </p:txBody>
      </p:sp>
      <p:sp>
        <p:nvSpPr>
          <p:cNvPr id="49" name="Text 47"/>
          <p:cNvSpPr/>
          <p:nvPr/>
        </p:nvSpPr>
        <p:spPr>
          <a:xfrm>
            <a:off x="3200400" y="4773168"/>
            <a:ext cx="2651760" cy="274320"/>
          </a:xfrm>
          <a:prstGeom prst="rect">
            <a:avLst/>
          </a:prstGeom>
          <a:solidFill>
            <a:srgbClr val="002060"/>
          </a:solid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Valuation_Scale</a:t>
            </a:r>
            <a:endParaRPr lang="en-US" sz="1000" dirty="0">
              <a:solidFill>
                <a:schemeClr val="bg1"/>
              </a:solidFill>
            </a:endParaRPr>
          </a:p>
        </p:txBody>
      </p:sp>
      <p:sp>
        <p:nvSpPr>
          <p:cNvPr id="50" name="Shape 48"/>
          <p:cNvSpPr/>
          <p:nvPr/>
        </p:nvSpPr>
        <p:spPr>
          <a:xfrm>
            <a:off x="6035040" y="4773168"/>
            <a:ext cx="2651760" cy="274320"/>
          </a:xfrm>
          <a:prstGeom prst="roundRect">
            <a:avLst>
              <a:gd name="adj" fmla="val 20000"/>
            </a:avLst>
          </a:prstGeom>
          <a:solidFill>
            <a:srgbClr val="002060"/>
          </a:solidFill>
          <a:ln/>
        </p:spPr>
        <p:txBody>
          <a:bodyPr/>
          <a:lstStyle/>
          <a:p>
            <a:endParaRPr lang="en-US"/>
          </a:p>
        </p:txBody>
      </p:sp>
      <p:sp>
        <p:nvSpPr>
          <p:cNvPr id="51" name="Text 49"/>
          <p:cNvSpPr/>
          <p:nvPr/>
        </p:nvSpPr>
        <p:spPr>
          <a:xfrm>
            <a:off x="6035040" y="4773168"/>
            <a:ext cx="2651760" cy="274320"/>
          </a:xfrm>
          <a:prstGeom prst="rect">
            <a:avLst/>
          </a:prstGeom>
          <a:solidFill>
            <a:srgbClr val="002060"/>
          </a:solidFill>
          <a:ln/>
        </p:spPr>
        <p:txBody>
          <a:bodyPr wrap="square" lIns="0" tIns="0" rIns="0" bIns="0" rtlCol="0" anchor="ctr"/>
          <a:lstStyle/>
          <a:p>
            <a:pPr marL="0" indent="0" algn="ctr">
              <a:buNone/>
            </a:pPr>
            <a:r>
              <a:rPr lang="en-US" sz="1000" b="1" dirty="0">
                <a:solidFill>
                  <a:schemeClr val="bg1"/>
                </a:solidFill>
                <a:latin typeface="Calibri" pitchFamily="34" charset="0"/>
                <a:ea typeface="Calibri" pitchFamily="34" charset="-122"/>
                <a:cs typeface="Calibri" pitchFamily="34" charset="-120"/>
              </a:rPr>
              <a:t>Country_Region</a:t>
            </a:r>
            <a:endParaRPr lang="en-US" sz="10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RAW DATASET — Original Data Before Cleaning</a:t>
            </a:r>
            <a:endParaRPr lang="en-US" sz="2200" dirty="0"/>
          </a:p>
        </p:txBody>
      </p:sp>
      <p:sp>
        <p:nvSpPr>
          <p:cNvPr id="4" name="Shape 2"/>
          <p:cNvSpPr/>
          <p:nvPr/>
        </p:nvSpPr>
        <p:spPr>
          <a:xfrm>
            <a:off x="365760" y="1005840"/>
            <a:ext cx="8412480" cy="3840480"/>
          </a:xfrm>
          <a:prstGeom prst="roundRect">
            <a:avLst>
              <a:gd name="adj" fmla="val 2857"/>
            </a:avLst>
          </a:prstGeom>
          <a:blipFill>
            <a:blip r:embed="rId3"/>
            <a:stretch>
              <a:fillRect/>
            </a:stretch>
          </a:blip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5" name="Text 3"/>
          <p:cNvSpPr/>
          <p:nvPr/>
        </p:nvSpPr>
        <p:spPr>
          <a:xfrm>
            <a:off x="365760" y="1005840"/>
            <a:ext cx="8412480" cy="3840480"/>
          </a:xfrm>
          <a:prstGeom prst="rect">
            <a:avLst/>
          </a:prstGeom>
          <a:noFill/>
          <a:ln/>
        </p:spPr>
        <p:txBody>
          <a:bodyPr wrap="square" lIns="0" tIns="0" rIns="0" bIns="0" rtlCol="0" anchor="ctr"/>
          <a:lstStyle/>
          <a:p>
            <a:pPr marL="0" indent="0" algn="ctr">
              <a:buNone/>
            </a:pPr>
            <a:endParaRPr lang="en-US" sz="1600" dirty="0"/>
          </a:p>
        </p:txBody>
      </p:sp>
      <p:sp>
        <p:nvSpPr>
          <p:cNvPr id="6" name="Text 4"/>
          <p:cNvSpPr/>
          <p:nvPr/>
        </p:nvSpPr>
        <p:spPr>
          <a:xfrm>
            <a:off x="365760" y="4833256"/>
            <a:ext cx="8412480" cy="274320"/>
          </a:xfrm>
          <a:prstGeom prst="rect">
            <a:avLst/>
          </a:prstGeom>
          <a:noFill/>
          <a:ln/>
        </p:spPr>
        <p:txBody>
          <a:bodyPr wrap="square" lIns="0" tIns="0" rIns="0" bIns="0" rtlCol="0" anchor="ctr"/>
          <a:lstStyle/>
          <a:p>
            <a:pPr marL="0" indent="0" algn="ctr">
              <a:buNone/>
            </a:pPr>
            <a:r>
              <a:rPr lang="en-US" sz="1100" b="1" dirty="0">
                <a:solidFill>
                  <a:schemeClr val="accent1">
                    <a:lumMod val="50000"/>
                  </a:schemeClr>
                </a:solidFill>
                <a:latin typeface="Calibri" pitchFamily="34" charset="0"/>
                <a:ea typeface="Calibri" pitchFamily="34" charset="-122"/>
                <a:cs typeface="Calibri" pitchFamily="34" charset="-120"/>
              </a:rPr>
              <a:t>2,000 rows + 1 header row  |  8 original columns  |  Source: Kaggle Forbes Global 2000 — 2025</a:t>
            </a:r>
            <a:endParaRPr lang="en-US" sz="1100" b="1" dirty="0">
              <a:solidFill>
                <a:schemeClr val="accent1">
                  <a:lumMod val="5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DATA CLEANING PROCESS</a:t>
            </a:r>
            <a:endParaRPr lang="en-US" sz="2600" dirty="0"/>
          </a:p>
        </p:txBody>
      </p:sp>
      <p:sp>
        <p:nvSpPr>
          <p:cNvPr id="4" name="Shape 2"/>
          <p:cNvSpPr/>
          <p:nvPr/>
        </p:nvSpPr>
        <p:spPr>
          <a:xfrm>
            <a:off x="365760" y="1005840"/>
            <a:ext cx="4114800" cy="685800"/>
          </a:xfrm>
          <a:prstGeom prst="roundRect">
            <a:avLst>
              <a:gd name="adj" fmla="val 10667"/>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5" name="Shape 3"/>
          <p:cNvSpPr/>
          <p:nvPr/>
        </p:nvSpPr>
        <p:spPr>
          <a:xfrm>
            <a:off x="438912" y="1124712"/>
            <a:ext cx="438912" cy="438912"/>
          </a:xfrm>
          <a:prstGeom prst="ellipse">
            <a:avLst/>
          </a:prstGeom>
          <a:solidFill>
            <a:srgbClr val="002060"/>
          </a:solidFill>
          <a:ln/>
        </p:spPr>
        <p:txBody>
          <a:bodyPr/>
          <a:lstStyle/>
          <a:p>
            <a:endParaRPr lang="en-US"/>
          </a:p>
        </p:txBody>
      </p:sp>
      <p:sp>
        <p:nvSpPr>
          <p:cNvPr id="6" name="Text 4"/>
          <p:cNvSpPr/>
          <p:nvPr/>
        </p:nvSpPr>
        <p:spPr>
          <a:xfrm>
            <a:off x="438912" y="1124712"/>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7" name="Text 5"/>
          <p:cNvSpPr/>
          <p:nvPr/>
        </p:nvSpPr>
        <p:spPr>
          <a:xfrm>
            <a:off x="960120" y="1078992"/>
            <a:ext cx="3429000" cy="548640"/>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No duplicates or blank cells found — 2,000 rows intact</a:t>
            </a:r>
            <a:endParaRPr lang="en-US" sz="1100" dirty="0"/>
          </a:p>
        </p:txBody>
      </p:sp>
      <p:sp>
        <p:nvSpPr>
          <p:cNvPr id="8" name="Shape 6"/>
          <p:cNvSpPr/>
          <p:nvPr/>
        </p:nvSpPr>
        <p:spPr>
          <a:xfrm>
            <a:off x="365760" y="2011680"/>
            <a:ext cx="4114800" cy="685800"/>
          </a:xfrm>
          <a:prstGeom prst="roundRect">
            <a:avLst>
              <a:gd name="adj" fmla="val 10667"/>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9" name="Shape 7"/>
          <p:cNvSpPr/>
          <p:nvPr/>
        </p:nvSpPr>
        <p:spPr>
          <a:xfrm>
            <a:off x="438912" y="2130552"/>
            <a:ext cx="438912" cy="438912"/>
          </a:xfrm>
          <a:prstGeom prst="ellipse">
            <a:avLst/>
          </a:prstGeom>
          <a:solidFill>
            <a:srgbClr val="002060"/>
          </a:solidFill>
          <a:ln/>
        </p:spPr>
        <p:txBody>
          <a:bodyPr/>
          <a:lstStyle/>
          <a:p>
            <a:endParaRPr lang="en-US"/>
          </a:p>
        </p:txBody>
      </p:sp>
      <p:sp>
        <p:nvSpPr>
          <p:cNvPr id="10" name="Text 8"/>
          <p:cNvSpPr/>
          <p:nvPr/>
        </p:nvSpPr>
        <p:spPr>
          <a:xfrm>
            <a:off x="438912" y="2130552"/>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1" name="Text 9"/>
          <p:cNvSpPr/>
          <p:nvPr/>
        </p:nvSpPr>
        <p:spPr>
          <a:xfrm>
            <a:off x="960120" y="2084832"/>
            <a:ext cx="3429000" cy="548640"/>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Column headers renamed: removed symbols &amp; spaces → Sales_$B, Profit_$B etc.</a:t>
            </a:r>
            <a:endParaRPr lang="en-US" sz="1100" dirty="0"/>
          </a:p>
        </p:txBody>
      </p:sp>
      <p:sp>
        <p:nvSpPr>
          <p:cNvPr id="12" name="Shape 10"/>
          <p:cNvSpPr/>
          <p:nvPr/>
        </p:nvSpPr>
        <p:spPr>
          <a:xfrm>
            <a:off x="365760" y="3017520"/>
            <a:ext cx="4114800" cy="685800"/>
          </a:xfrm>
          <a:prstGeom prst="roundRect">
            <a:avLst>
              <a:gd name="adj" fmla="val 10667"/>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13" name="Shape 11"/>
          <p:cNvSpPr/>
          <p:nvPr/>
        </p:nvSpPr>
        <p:spPr>
          <a:xfrm>
            <a:off x="438912" y="3136392"/>
            <a:ext cx="438912" cy="438912"/>
          </a:xfrm>
          <a:prstGeom prst="ellipse">
            <a:avLst/>
          </a:prstGeom>
          <a:solidFill>
            <a:srgbClr val="002060"/>
          </a:solidFill>
          <a:ln/>
        </p:spPr>
        <p:txBody>
          <a:bodyPr/>
          <a:lstStyle/>
          <a:p>
            <a:endParaRPr lang="en-US"/>
          </a:p>
        </p:txBody>
      </p:sp>
      <p:sp>
        <p:nvSpPr>
          <p:cNvPr id="14" name="Text 12"/>
          <p:cNvSpPr/>
          <p:nvPr/>
        </p:nvSpPr>
        <p:spPr>
          <a:xfrm>
            <a:off x="438912" y="3136392"/>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5" name="Text 13"/>
          <p:cNvSpPr/>
          <p:nvPr/>
        </p:nvSpPr>
        <p:spPr>
          <a:xfrm>
            <a:off x="960120" y="3090672"/>
            <a:ext cx="3429000" cy="548640"/>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Deleted Ranks 1488 &amp; 1821: impossible negative and zero sales values</a:t>
            </a:r>
            <a:endParaRPr lang="en-US" sz="1100" dirty="0"/>
          </a:p>
        </p:txBody>
      </p:sp>
      <p:sp>
        <p:nvSpPr>
          <p:cNvPr id="16" name="Shape 14"/>
          <p:cNvSpPr/>
          <p:nvPr/>
        </p:nvSpPr>
        <p:spPr>
          <a:xfrm>
            <a:off x="365760" y="4023360"/>
            <a:ext cx="4114800" cy="685800"/>
          </a:xfrm>
          <a:prstGeom prst="roundRect">
            <a:avLst>
              <a:gd name="adj" fmla="val 10667"/>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17" name="Shape 15"/>
          <p:cNvSpPr/>
          <p:nvPr/>
        </p:nvSpPr>
        <p:spPr>
          <a:xfrm>
            <a:off x="438912" y="4142232"/>
            <a:ext cx="438912" cy="438912"/>
          </a:xfrm>
          <a:prstGeom prst="ellipse">
            <a:avLst/>
          </a:prstGeom>
          <a:solidFill>
            <a:srgbClr val="002060"/>
          </a:solidFill>
          <a:ln/>
        </p:spPr>
        <p:txBody>
          <a:bodyPr/>
          <a:lstStyle/>
          <a:p>
            <a:endParaRPr lang="en-US"/>
          </a:p>
        </p:txBody>
      </p:sp>
      <p:sp>
        <p:nvSpPr>
          <p:cNvPr id="18" name="Text 16"/>
          <p:cNvSpPr/>
          <p:nvPr/>
        </p:nvSpPr>
        <p:spPr>
          <a:xfrm>
            <a:off x="438912" y="4142232"/>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19" name="Text 17"/>
          <p:cNvSpPr/>
          <p:nvPr/>
        </p:nvSpPr>
        <p:spPr>
          <a:xfrm>
            <a:off x="960120" y="4096512"/>
            <a:ext cx="3429000" cy="548640"/>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Corrected Ranks 879 &amp; 1321: double decimal errors 0.513.7 → 0.51 and 0.703.6 → 0.70</a:t>
            </a:r>
            <a:endParaRPr lang="en-US" sz="1100" dirty="0"/>
          </a:p>
        </p:txBody>
      </p:sp>
      <p:sp>
        <p:nvSpPr>
          <p:cNvPr id="20" name="Shape 18"/>
          <p:cNvSpPr/>
          <p:nvPr/>
        </p:nvSpPr>
        <p:spPr>
          <a:xfrm>
            <a:off x="4754880" y="1005840"/>
            <a:ext cx="4114800" cy="685800"/>
          </a:xfrm>
          <a:prstGeom prst="roundRect">
            <a:avLst>
              <a:gd name="adj" fmla="val 10667"/>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21" name="Shape 19"/>
          <p:cNvSpPr/>
          <p:nvPr/>
        </p:nvSpPr>
        <p:spPr>
          <a:xfrm>
            <a:off x="4828032" y="1124712"/>
            <a:ext cx="438912" cy="438912"/>
          </a:xfrm>
          <a:prstGeom prst="ellipse">
            <a:avLst/>
          </a:prstGeom>
          <a:solidFill>
            <a:srgbClr val="002060"/>
          </a:solidFill>
          <a:ln/>
        </p:spPr>
        <p:txBody>
          <a:bodyPr/>
          <a:lstStyle/>
          <a:p>
            <a:endParaRPr lang="en-US"/>
          </a:p>
        </p:txBody>
      </p:sp>
      <p:sp>
        <p:nvSpPr>
          <p:cNvPr id="22" name="Text 20"/>
          <p:cNvSpPr/>
          <p:nvPr/>
        </p:nvSpPr>
        <p:spPr>
          <a:xfrm>
            <a:off x="4828032" y="1124712"/>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23" name="Text 21"/>
          <p:cNvSpPr/>
          <p:nvPr/>
        </p:nvSpPr>
        <p:spPr>
          <a:xfrm>
            <a:off x="5349240" y="1078992"/>
            <a:ext cx="3429000" cy="548640"/>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Rank 334 company name: replaced unreadable decimal value with 'Unknown'</a:t>
            </a:r>
            <a:endParaRPr lang="en-US" sz="1100" dirty="0"/>
          </a:p>
        </p:txBody>
      </p:sp>
      <p:sp>
        <p:nvSpPr>
          <p:cNvPr id="24" name="Shape 22"/>
          <p:cNvSpPr/>
          <p:nvPr/>
        </p:nvSpPr>
        <p:spPr>
          <a:xfrm>
            <a:off x="4754880" y="2011680"/>
            <a:ext cx="4114800" cy="685800"/>
          </a:xfrm>
          <a:prstGeom prst="roundRect">
            <a:avLst>
              <a:gd name="adj" fmla="val 10667"/>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25" name="Shape 23"/>
          <p:cNvSpPr/>
          <p:nvPr/>
        </p:nvSpPr>
        <p:spPr>
          <a:xfrm>
            <a:off x="4828032" y="2130552"/>
            <a:ext cx="438912" cy="438912"/>
          </a:xfrm>
          <a:prstGeom prst="ellipse">
            <a:avLst/>
          </a:prstGeom>
          <a:solidFill>
            <a:srgbClr val="002060"/>
          </a:solidFill>
          <a:ln/>
        </p:spPr>
        <p:txBody>
          <a:bodyPr/>
          <a:lstStyle/>
          <a:p>
            <a:endParaRPr lang="en-US"/>
          </a:p>
        </p:txBody>
      </p:sp>
      <p:sp>
        <p:nvSpPr>
          <p:cNvPr id="26" name="Text 24"/>
          <p:cNvSpPr/>
          <p:nvPr/>
        </p:nvSpPr>
        <p:spPr>
          <a:xfrm>
            <a:off x="4828032" y="2130552"/>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27" name="Text 25"/>
          <p:cNvSpPr/>
          <p:nvPr/>
        </p:nvSpPr>
        <p:spPr>
          <a:xfrm>
            <a:off x="5349240" y="2084832"/>
            <a:ext cx="3429000" cy="548640"/>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Formatted columns: Company/HQ/Industry → Text; Rank → Number; numerics → 2 dp</a:t>
            </a:r>
            <a:endParaRPr lang="en-US" sz="1100" dirty="0"/>
          </a:p>
        </p:txBody>
      </p:sp>
      <p:sp>
        <p:nvSpPr>
          <p:cNvPr id="28" name="Shape 26"/>
          <p:cNvSpPr/>
          <p:nvPr/>
        </p:nvSpPr>
        <p:spPr>
          <a:xfrm>
            <a:off x="4754880" y="3017520"/>
            <a:ext cx="4114800" cy="685800"/>
          </a:xfrm>
          <a:prstGeom prst="roundRect">
            <a:avLst>
              <a:gd name="adj" fmla="val 10667"/>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29" name="Shape 27"/>
          <p:cNvSpPr/>
          <p:nvPr/>
        </p:nvSpPr>
        <p:spPr>
          <a:xfrm>
            <a:off x="4828032" y="3136392"/>
            <a:ext cx="438912" cy="438912"/>
          </a:xfrm>
          <a:prstGeom prst="ellipse">
            <a:avLst/>
          </a:prstGeom>
          <a:solidFill>
            <a:srgbClr val="002060"/>
          </a:solidFill>
          <a:ln/>
        </p:spPr>
        <p:txBody>
          <a:bodyPr/>
          <a:lstStyle/>
          <a:p>
            <a:endParaRPr lang="en-US"/>
          </a:p>
        </p:txBody>
      </p:sp>
      <p:sp>
        <p:nvSpPr>
          <p:cNvPr id="30" name="Text 28"/>
          <p:cNvSpPr/>
          <p:nvPr/>
        </p:nvSpPr>
        <p:spPr>
          <a:xfrm>
            <a:off x="4828032" y="3136392"/>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sp>
        <p:nvSpPr>
          <p:cNvPr id="31" name="Text 29"/>
          <p:cNvSpPr/>
          <p:nvPr/>
        </p:nvSpPr>
        <p:spPr>
          <a:xfrm>
            <a:off x="5349240" y="3090672"/>
            <a:ext cx="3429000" cy="548640"/>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Added 9 calculated columns: Profit_Margin_%, ROA_%, MV/Asset, Performance_Status etc.</a:t>
            </a:r>
            <a:endParaRPr lang="en-US" sz="1100" dirty="0"/>
          </a:p>
        </p:txBody>
      </p:sp>
      <p:sp>
        <p:nvSpPr>
          <p:cNvPr id="32" name="Shape 30"/>
          <p:cNvSpPr/>
          <p:nvPr/>
        </p:nvSpPr>
        <p:spPr>
          <a:xfrm>
            <a:off x="4754880" y="4023360"/>
            <a:ext cx="4114800" cy="685800"/>
          </a:xfrm>
          <a:prstGeom prst="roundRect">
            <a:avLst>
              <a:gd name="adj" fmla="val 10667"/>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33" name="Shape 31"/>
          <p:cNvSpPr/>
          <p:nvPr/>
        </p:nvSpPr>
        <p:spPr>
          <a:xfrm>
            <a:off x="4828032" y="4142232"/>
            <a:ext cx="438912" cy="438912"/>
          </a:xfrm>
          <a:prstGeom prst="ellipse">
            <a:avLst/>
          </a:prstGeom>
          <a:solidFill>
            <a:srgbClr val="002060"/>
          </a:solidFill>
          <a:ln/>
        </p:spPr>
        <p:txBody>
          <a:bodyPr/>
          <a:lstStyle/>
          <a:p>
            <a:endParaRPr lang="en-US"/>
          </a:p>
        </p:txBody>
      </p:sp>
      <p:sp>
        <p:nvSpPr>
          <p:cNvPr id="34" name="Text 32"/>
          <p:cNvSpPr/>
          <p:nvPr/>
        </p:nvSpPr>
        <p:spPr>
          <a:xfrm>
            <a:off x="4828032" y="4142232"/>
            <a:ext cx="438912"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08</a:t>
            </a:r>
            <a:endParaRPr lang="en-US" sz="1000" dirty="0"/>
          </a:p>
        </p:txBody>
      </p:sp>
      <p:sp>
        <p:nvSpPr>
          <p:cNvPr id="35" name="Text 33"/>
          <p:cNvSpPr/>
          <p:nvPr/>
        </p:nvSpPr>
        <p:spPr>
          <a:xfrm>
            <a:off x="5349240" y="4096512"/>
            <a:ext cx="3429000" cy="548640"/>
          </a:xfrm>
          <a:prstGeom prst="rect">
            <a:avLst/>
          </a:prstGeom>
          <a:noFill/>
          <a:ln/>
        </p:spPr>
        <p:txBody>
          <a:bodyPr wrap="square" lIns="0" tIns="0" rIns="0" bIns="0" rtlCol="0" anchor="ctr"/>
          <a:lstStyle/>
          <a:p>
            <a:pPr marL="0" indent="0">
              <a:buNone/>
            </a:pPr>
            <a:r>
              <a:rPr lang="en-US" sz="1100" dirty="0">
                <a:solidFill>
                  <a:srgbClr val="1B2A4A"/>
                </a:solidFill>
                <a:latin typeface="Calibri" pitchFamily="34" charset="0"/>
                <a:ea typeface="Calibri" pitchFamily="34" charset="-122"/>
                <a:cs typeface="Calibri" pitchFamily="34" charset="-120"/>
              </a:rPr>
              <a:t>Final dataset: 1,998 rows + 1 header | 17 columns | 127 loss-making companies identified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CLEANED DATASET — Ready for Analysis</a:t>
            </a:r>
            <a:endParaRPr lang="en-US" sz="2200" dirty="0"/>
          </a:p>
        </p:txBody>
      </p:sp>
      <p:sp>
        <p:nvSpPr>
          <p:cNvPr id="4" name="Shape 2"/>
          <p:cNvSpPr/>
          <p:nvPr/>
        </p:nvSpPr>
        <p:spPr>
          <a:xfrm>
            <a:off x="365760" y="1005840"/>
            <a:ext cx="8412480" cy="3657600"/>
          </a:xfrm>
          <a:prstGeom prst="roundRect">
            <a:avLst>
              <a:gd name="adj" fmla="val 3000"/>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5" name="Text 3"/>
          <p:cNvSpPr/>
          <p:nvPr/>
        </p:nvSpPr>
        <p:spPr>
          <a:xfrm>
            <a:off x="365760" y="1005840"/>
            <a:ext cx="8412480" cy="3657600"/>
          </a:xfrm>
          <a:prstGeom prst="rect">
            <a:avLst/>
          </a:prstGeom>
          <a:blipFill>
            <a:blip r:embed="rId3"/>
            <a:stretch>
              <a:fillRect/>
            </a:stretch>
          </a:blipFill>
          <a:ln/>
        </p:spPr>
        <p:txBody>
          <a:bodyPr wrap="square" lIns="0" tIns="0" rIns="0" bIns="0" rtlCol="0" anchor="ctr"/>
          <a:lstStyle/>
          <a:p>
            <a:pPr marL="0" indent="0" algn="ctr">
              <a:buNone/>
            </a:pPr>
            <a:endParaRPr lang="en-US" sz="1600" dirty="0"/>
          </a:p>
        </p:txBody>
      </p:sp>
      <p:sp>
        <p:nvSpPr>
          <p:cNvPr id="6" name="Shape 4"/>
          <p:cNvSpPr/>
          <p:nvPr/>
        </p:nvSpPr>
        <p:spPr>
          <a:xfrm>
            <a:off x="365760" y="4736592"/>
            <a:ext cx="1920240" cy="347472"/>
          </a:xfrm>
          <a:prstGeom prst="roundRect">
            <a:avLst>
              <a:gd name="adj" fmla="val 18421"/>
            </a:avLst>
          </a:prstGeom>
          <a:solidFill>
            <a:srgbClr val="0D1B3E"/>
          </a:solidFill>
          <a:ln/>
        </p:spPr>
        <p:txBody>
          <a:bodyPr/>
          <a:lstStyle/>
          <a:p>
            <a:endParaRPr lang="en-US"/>
          </a:p>
        </p:txBody>
      </p:sp>
      <p:sp>
        <p:nvSpPr>
          <p:cNvPr id="7" name="Text 5"/>
          <p:cNvSpPr/>
          <p:nvPr/>
        </p:nvSpPr>
        <p:spPr>
          <a:xfrm>
            <a:off x="365760" y="4736592"/>
            <a:ext cx="19202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Total Rows: 1,998</a:t>
            </a:r>
            <a:endParaRPr lang="en-US" sz="1100" dirty="0"/>
          </a:p>
        </p:txBody>
      </p:sp>
      <p:sp>
        <p:nvSpPr>
          <p:cNvPr id="8" name="Shape 6"/>
          <p:cNvSpPr/>
          <p:nvPr/>
        </p:nvSpPr>
        <p:spPr>
          <a:xfrm>
            <a:off x="2468880" y="4736592"/>
            <a:ext cx="1920240" cy="347472"/>
          </a:xfrm>
          <a:prstGeom prst="roundRect">
            <a:avLst>
              <a:gd name="adj" fmla="val 18421"/>
            </a:avLst>
          </a:prstGeom>
          <a:solidFill>
            <a:srgbClr val="0D1B3E"/>
          </a:solidFill>
          <a:ln/>
        </p:spPr>
        <p:txBody>
          <a:bodyPr/>
          <a:lstStyle/>
          <a:p>
            <a:endParaRPr lang="en-US"/>
          </a:p>
        </p:txBody>
      </p:sp>
      <p:sp>
        <p:nvSpPr>
          <p:cNvPr id="9" name="Text 7"/>
          <p:cNvSpPr/>
          <p:nvPr/>
        </p:nvSpPr>
        <p:spPr>
          <a:xfrm>
            <a:off x="2468880" y="4736592"/>
            <a:ext cx="19202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Total Columns: 17</a:t>
            </a:r>
            <a:endParaRPr lang="en-US" sz="1100" dirty="0"/>
          </a:p>
        </p:txBody>
      </p:sp>
      <p:sp>
        <p:nvSpPr>
          <p:cNvPr id="10" name="Shape 8"/>
          <p:cNvSpPr/>
          <p:nvPr/>
        </p:nvSpPr>
        <p:spPr>
          <a:xfrm>
            <a:off x="4572000" y="4736592"/>
            <a:ext cx="1920240" cy="347472"/>
          </a:xfrm>
          <a:prstGeom prst="roundRect">
            <a:avLst>
              <a:gd name="adj" fmla="val 18421"/>
            </a:avLst>
          </a:prstGeom>
          <a:solidFill>
            <a:srgbClr val="0D1B3E"/>
          </a:solidFill>
          <a:ln/>
        </p:spPr>
        <p:txBody>
          <a:bodyPr/>
          <a:lstStyle/>
          <a:p>
            <a:endParaRPr lang="en-US"/>
          </a:p>
        </p:txBody>
      </p:sp>
      <p:sp>
        <p:nvSpPr>
          <p:cNvPr id="11" name="Text 9"/>
          <p:cNvSpPr/>
          <p:nvPr/>
        </p:nvSpPr>
        <p:spPr>
          <a:xfrm>
            <a:off x="4572000" y="4736592"/>
            <a:ext cx="19202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Loss-Making: 127</a:t>
            </a:r>
            <a:endParaRPr lang="en-US" sz="1100" dirty="0"/>
          </a:p>
        </p:txBody>
      </p:sp>
      <p:sp>
        <p:nvSpPr>
          <p:cNvPr id="12" name="Shape 10"/>
          <p:cNvSpPr/>
          <p:nvPr/>
        </p:nvSpPr>
        <p:spPr>
          <a:xfrm>
            <a:off x="6675120" y="4736592"/>
            <a:ext cx="1920240" cy="347472"/>
          </a:xfrm>
          <a:prstGeom prst="roundRect">
            <a:avLst>
              <a:gd name="adj" fmla="val 18421"/>
            </a:avLst>
          </a:prstGeom>
          <a:solidFill>
            <a:srgbClr val="0D1B3E"/>
          </a:solidFill>
          <a:ln/>
        </p:spPr>
        <p:txBody>
          <a:bodyPr/>
          <a:lstStyle/>
          <a:p>
            <a:endParaRPr lang="en-US"/>
          </a:p>
        </p:txBody>
      </p:sp>
      <p:sp>
        <p:nvSpPr>
          <p:cNvPr id="13" name="Text 11"/>
          <p:cNvSpPr/>
          <p:nvPr/>
        </p:nvSpPr>
        <p:spPr>
          <a:xfrm>
            <a:off x="6675120" y="4736592"/>
            <a:ext cx="19202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Profitable: 1,871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65C0"/>
        </a:solidFill>
        <a:effectLst/>
      </p:bgPr>
    </p:bg>
    <p:spTree>
      <p:nvGrpSpPr>
        <p:cNvPr id="1" name=""/>
        <p:cNvGrpSpPr/>
        <p:nvPr/>
      </p:nvGrpSpPr>
      <p:grpSpPr>
        <a:xfrm>
          <a:off x="0" y="0"/>
          <a:ext cx="0" cy="0"/>
          <a:chOff x="0" y="0"/>
          <a:chExt cx="0" cy="0"/>
        </a:xfrm>
      </p:grpSpPr>
      <p:sp>
        <p:nvSpPr>
          <p:cNvPr id="2" name="Text 0"/>
          <p:cNvSpPr/>
          <p:nvPr/>
        </p:nvSpPr>
        <p:spPr>
          <a:xfrm>
            <a:off x="914400" y="953262"/>
            <a:ext cx="7315200" cy="2286000"/>
          </a:xfrm>
          <a:prstGeom prst="rect">
            <a:avLst/>
          </a:prstGeom>
          <a:noFill/>
          <a:ln/>
          <a:effectLst>
            <a:outerShdw blurRad="50800" dist="38100" dir="16200000" rotWithShape="0">
              <a:prstClr val="black">
                <a:alpha val="40000"/>
              </a:prstClr>
            </a:outerShdw>
          </a:effectLst>
        </p:spPr>
        <p:txBody>
          <a:bodyPr wrap="square" lIns="0" tIns="0" rIns="0" bIns="0" rtlCol="0" anchor="ctr"/>
          <a:lstStyle/>
          <a:p>
            <a:pPr marL="0" indent="0" algn="ctr">
              <a:buNone/>
            </a:pPr>
            <a:r>
              <a:rPr lang="en-US" sz="4600" b="1" dirty="0">
                <a:solidFill>
                  <a:srgbClr val="FFFFFF"/>
                </a:solidFill>
                <a:latin typeface="Calibri" pitchFamily="34" charset="0"/>
                <a:ea typeface="Calibri" pitchFamily="34" charset="-122"/>
                <a:cs typeface="Calibri" pitchFamily="34" charset="-120"/>
              </a:rPr>
              <a:t>ANALYSIS </a:t>
            </a:r>
          </a:p>
          <a:p>
            <a:pPr marL="0" indent="0" algn="ctr">
              <a:buNone/>
            </a:pPr>
            <a:r>
              <a:rPr lang="en-US" sz="4600" b="1" dirty="0">
                <a:solidFill>
                  <a:srgbClr val="FFFFFF"/>
                </a:solidFill>
                <a:latin typeface="Calibri" pitchFamily="34" charset="0"/>
                <a:ea typeface="Calibri" pitchFamily="34" charset="-122"/>
                <a:cs typeface="Calibri" pitchFamily="34" charset="-120"/>
              </a:rPr>
              <a:t>&amp;</a:t>
            </a:r>
            <a:endParaRPr lang="en-US" sz="4600" dirty="0"/>
          </a:p>
          <a:p>
            <a:pPr marL="0" indent="0" algn="ctr">
              <a:buNone/>
            </a:pPr>
            <a:r>
              <a:rPr lang="en-US" sz="4600" b="1" dirty="0">
                <a:solidFill>
                  <a:srgbClr val="FFFFFF"/>
                </a:solidFill>
                <a:latin typeface="Calibri" pitchFamily="34" charset="0"/>
                <a:ea typeface="Calibri" pitchFamily="34" charset="-122"/>
                <a:cs typeface="Calibri" pitchFamily="34" charset="-120"/>
              </a:rPr>
              <a:t>VISUALIZATION</a:t>
            </a:r>
            <a:endParaRPr lang="en-US" sz="4600" dirty="0"/>
          </a:p>
        </p:txBody>
      </p:sp>
      <p:sp>
        <p:nvSpPr>
          <p:cNvPr id="3" name="Text 1"/>
          <p:cNvSpPr/>
          <p:nvPr/>
        </p:nvSpPr>
        <p:spPr>
          <a:xfrm>
            <a:off x="914400" y="3589020"/>
            <a:ext cx="7315200" cy="457200"/>
          </a:xfrm>
          <a:prstGeom prst="rect">
            <a:avLst/>
          </a:prstGeom>
          <a:noFill/>
          <a:ln/>
          <a:effectLst>
            <a:outerShdw blurRad="50800" dist="38100" dir="16200000" rotWithShape="0">
              <a:prstClr val="black">
                <a:alpha val="40000"/>
              </a:prstClr>
            </a:outerShdw>
          </a:effectLst>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Company Performance  |  Industry  |  Geographic  |  Investment Intelligence</a:t>
            </a:r>
            <a:endParaRPr lang="en-US" sz="1400" b="1" dirty="0">
              <a:solidFill>
                <a:schemeClr val="bg1"/>
              </a:solidFill>
            </a:endParaRPr>
          </a:p>
        </p:txBody>
      </p:sp>
      <p:sp>
        <p:nvSpPr>
          <p:cNvPr id="4" name="Shape 2"/>
          <p:cNvSpPr/>
          <p:nvPr/>
        </p:nvSpPr>
        <p:spPr>
          <a:xfrm>
            <a:off x="3200400" y="3337560"/>
            <a:ext cx="2743200" cy="54864"/>
          </a:xfrm>
          <a:prstGeom prst="rect">
            <a:avLst/>
          </a:prstGeom>
          <a:solidFill>
            <a:srgbClr val="002060"/>
          </a:solidFill>
          <a:ln w="12700">
            <a:solidFill>
              <a:srgbClr val="002060"/>
            </a:solidFill>
            <a:prstDash val="solid"/>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29232"/>
          </a:xfrm>
          <a:prstGeom prst="rect">
            <a:avLst/>
          </a:prstGeom>
          <a:solidFill>
            <a:srgbClr val="0D1B3E"/>
          </a:solidFill>
          <a:ln w="12700">
            <a:solidFill>
              <a:srgbClr val="0D1B3E"/>
            </a:solidFill>
            <a:prstDash val="solid"/>
          </a:ln>
        </p:spPr>
        <p:txBody>
          <a:bodyPr/>
          <a:lstStyle/>
          <a:p>
            <a:endParaRPr lang="en-US"/>
          </a:p>
        </p:txBody>
      </p:sp>
      <p:sp>
        <p:nvSpPr>
          <p:cNvPr id="3" name="Text 1"/>
          <p:cNvSpPr/>
          <p:nvPr/>
        </p:nvSpPr>
        <p:spPr>
          <a:xfrm>
            <a:off x="457200" y="91440"/>
            <a:ext cx="6400800" cy="7315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EXECUTIVE SUMMARY DASHBOARD</a:t>
            </a:r>
            <a:endParaRPr lang="en-US" sz="2400" dirty="0"/>
          </a:p>
        </p:txBody>
      </p:sp>
      <p:sp>
        <p:nvSpPr>
          <p:cNvPr id="4" name="Text 2"/>
          <p:cNvSpPr/>
          <p:nvPr/>
        </p:nvSpPr>
        <p:spPr>
          <a:xfrm>
            <a:off x="6858000" y="228600"/>
            <a:ext cx="2011680" cy="411480"/>
          </a:xfrm>
          <a:prstGeom prst="rect">
            <a:avLst/>
          </a:prstGeom>
          <a:noFill/>
          <a:ln/>
        </p:spPr>
        <p:txBody>
          <a:bodyPr wrap="square" lIns="0" tIns="0" rIns="0" bIns="0" rtlCol="0" anchor="ctr"/>
          <a:lstStyle/>
          <a:p>
            <a:pPr marL="0" indent="0" algn="r">
              <a:buNone/>
            </a:pPr>
            <a:r>
              <a:rPr lang="en-US" sz="1100" b="1" dirty="0">
                <a:solidFill>
                  <a:srgbClr val="90A4AE"/>
                </a:solidFill>
                <a:latin typeface="Calibri" pitchFamily="34" charset="0"/>
                <a:ea typeface="Calibri" pitchFamily="34" charset="-122"/>
                <a:cs typeface="Calibri" pitchFamily="34" charset="-120"/>
              </a:rPr>
              <a:t>Dashboard Page 1 of 4</a:t>
            </a:r>
            <a:endParaRPr lang="en-US" sz="1100" b="1" dirty="0"/>
          </a:p>
        </p:txBody>
      </p:sp>
      <p:sp>
        <p:nvSpPr>
          <p:cNvPr id="5" name="Shape 3"/>
          <p:cNvSpPr/>
          <p:nvPr/>
        </p:nvSpPr>
        <p:spPr>
          <a:xfrm>
            <a:off x="164592" y="775284"/>
            <a:ext cx="1362456" cy="669796"/>
          </a:xfrm>
          <a:prstGeom prst="roundRect">
            <a:avLst>
              <a:gd name="adj" fmla="val 9474"/>
            </a:avLst>
          </a:prstGeom>
          <a:solidFill>
            <a:srgbClr val="002060"/>
          </a:solidFill>
          <a:ln/>
          <a:effectLst>
            <a:outerShdw blurRad="76200" dist="25400" dir="2700000" algn="bl" rotWithShape="0">
              <a:srgbClr val="000000">
                <a:alpha val="13000"/>
              </a:srgbClr>
            </a:outerShdw>
          </a:effectLst>
        </p:spPr>
        <p:txBody>
          <a:bodyPr/>
          <a:lstStyle/>
          <a:p>
            <a:endParaRPr lang="en-US"/>
          </a:p>
        </p:txBody>
      </p:sp>
      <p:sp>
        <p:nvSpPr>
          <p:cNvPr id="6" name="Text 4"/>
          <p:cNvSpPr/>
          <p:nvPr/>
        </p:nvSpPr>
        <p:spPr>
          <a:xfrm>
            <a:off x="270724" y="783442"/>
            <a:ext cx="1371600" cy="530352"/>
          </a:xfrm>
          <a:prstGeom prst="rect">
            <a:avLst/>
          </a:prstGeom>
          <a:noFill/>
          <a:ln/>
        </p:spPr>
        <p:txBody>
          <a:bodyPr wrap="square" lIns="0" tIns="0" rIns="0" bIns="0" rtlCol="0" anchor="b"/>
          <a:lstStyle/>
          <a:p>
            <a:pPr marL="0" indent="0" algn="ctr">
              <a:buNone/>
            </a:pPr>
            <a:r>
              <a:rPr lang="en-US" sz="1700" b="1" dirty="0">
                <a:solidFill>
                  <a:srgbClr val="FFFFFF"/>
                </a:solidFill>
                <a:latin typeface="Calibri" pitchFamily="34" charset="0"/>
                <a:ea typeface="Calibri" pitchFamily="34" charset="-122"/>
                <a:cs typeface="Calibri" pitchFamily="34" charset="-120"/>
              </a:rPr>
              <a:t>1,998</a:t>
            </a:r>
            <a:endParaRPr lang="en-US" sz="1700" dirty="0"/>
          </a:p>
        </p:txBody>
      </p:sp>
      <p:sp>
        <p:nvSpPr>
          <p:cNvPr id="7" name="Text 5"/>
          <p:cNvSpPr/>
          <p:nvPr/>
        </p:nvSpPr>
        <p:spPr>
          <a:xfrm>
            <a:off x="164592" y="857584"/>
            <a:ext cx="1371600" cy="347472"/>
          </a:xfrm>
          <a:prstGeom prst="rect">
            <a:avLst/>
          </a:prstGeom>
          <a:noFill/>
          <a:ln/>
        </p:spPr>
        <p:txBody>
          <a:bodyPr wrap="square" lIns="0" tIns="0" rIns="0" bIns="0" rtlCol="0" anchor="t"/>
          <a:lstStyle/>
          <a:p>
            <a:pPr marL="0" indent="0" algn="ctr">
              <a:buNone/>
            </a:pPr>
            <a:r>
              <a:rPr lang="en-US" sz="900" b="1" dirty="0">
                <a:solidFill>
                  <a:srgbClr val="FFFFFF"/>
                </a:solidFill>
                <a:latin typeface="Calibri" pitchFamily="34" charset="0"/>
                <a:ea typeface="Calibri" pitchFamily="34" charset="-122"/>
                <a:cs typeface="Calibri" pitchFamily="34" charset="-120"/>
              </a:rPr>
              <a:t>Total Companies</a:t>
            </a:r>
            <a:endParaRPr lang="en-US" sz="900" b="1" dirty="0"/>
          </a:p>
        </p:txBody>
      </p:sp>
      <p:sp>
        <p:nvSpPr>
          <p:cNvPr id="8" name="Shape 6"/>
          <p:cNvSpPr/>
          <p:nvPr/>
        </p:nvSpPr>
        <p:spPr>
          <a:xfrm>
            <a:off x="1645920" y="775285"/>
            <a:ext cx="1362456" cy="667512"/>
          </a:xfrm>
          <a:prstGeom prst="roundRect">
            <a:avLst>
              <a:gd name="adj" fmla="val 9474"/>
            </a:avLst>
          </a:prstGeom>
          <a:solidFill>
            <a:srgbClr val="002060"/>
          </a:solidFill>
          <a:ln/>
          <a:effectLst>
            <a:outerShdw blurRad="76200" dist="25400" dir="2700000" algn="bl" rotWithShape="0">
              <a:srgbClr val="000000">
                <a:alpha val="13000"/>
              </a:srgbClr>
            </a:outerShdw>
          </a:effectLst>
        </p:spPr>
        <p:txBody>
          <a:bodyPr/>
          <a:lstStyle/>
          <a:p>
            <a:endParaRPr lang="en-US"/>
          </a:p>
        </p:txBody>
      </p:sp>
      <p:sp>
        <p:nvSpPr>
          <p:cNvPr id="9" name="Text 7"/>
          <p:cNvSpPr/>
          <p:nvPr/>
        </p:nvSpPr>
        <p:spPr>
          <a:xfrm>
            <a:off x="1778511" y="782472"/>
            <a:ext cx="1371600" cy="530352"/>
          </a:xfrm>
          <a:prstGeom prst="rect">
            <a:avLst/>
          </a:prstGeom>
          <a:noFill/>
          <a:ln/>
        </p:spPr>
        <p:txBody>
          <a:bodyPr wrap="square" lIns="0" tIns="0" rIns="0" bIns="0" rtlCol="0" anchor="b"/>
          <a:lstStyle/>
          <a:p>
            <a:pPr marL="0" indent="0" algn="ctr">
              <a:buNone/>
            </a:pPr>
            <a:r>
              <a:rPr lang="en-US" sz="1700" b="1" dirty="0">
                <a:solidFill>
                  <a:srgbClr val="FFFFFF"/>
                </a:solidFill>
                <a:latin typeface="Calibri" pitchFamily="34" charset="0"/>
                <a:ea typeface="Calibri" pitchFamily="34" charset="-122"/>
                <a:cs typeface="Calibri" pitchFamily="34" charset="-120"/>
              </a:rPr>
              <a:t>$52.9T</a:t>
            </a:r>
            <a:endParaRPr lang="en-US" sz="1700" dirty="0"/>
          </a:p>
        </p:txBody>
      </p:sp>
      <p:sp>
        <p:nvSpPr>
          <p:cNvPr id="10" name="Text 8"/>
          <p:cNvSpPr/>
          <p:nvPr/>
        </p:nvSpPr>
        <p:spPr>
          <a:xfrm>
            <a:off x="1645920" y="850392"/>
            <a:ext cx="1371600" cy="347472"/>
          </a:xfrm>
          <a:prstGeom prst="rect">
            <a:avLst/>
          </a:prstGeom>
          <a:noFill/>
          <a:ln/>
        </p:spPr>
        <p:txBody>
          <a:bodyPr wrap="square" lIns="0" tIns="0" rIns="0" bIns="0" rtlCol="0" anchor="t"/>
          <a:lstStyle/>
          <a:p>
            <a:pPr marL="0" indent="0" algn="ctr">
              <a:buNone/>
            </a:pPr>
            <a:r>
              <a:rPr lang="en-US" sz="900" b="1" dirty="0">
                <a:solidFill>
                  <a:srgbClr val="FFFFFF"/>
                </a:solidFill>
                <a:latin typeface="Calibri" pitchFamily="34" charset="0"/>
                <a:ea typeface="Calibri" pitchFamily="34" charset="-122"/>
                <a:cs typeface="Calibri" pitchFamily="34" charset="-120"/>
              </a:rPr>
              <a:t>Total Sales</a:t>
            </a:r>
            <a:endParaRPr lang="en-US" sz="900" b="1" dirty="0"/>
          </a:p>
        </p:txBody>
      </p:sp>
      <p:sp>
        <p:nvSpPr>
          <p:cNvPr id="11" name="Shape 9"/>
          <p:cNvSpPr/>
          <p:nvPr/>
        </p:nvSpPr>
        <p:spPr>
          <a:xfrm>
            <a:off x="3127248" y="775276"/>
            <a:ext cx="1362456" cy="667512"/>
          </a:xfrm>
          <a:prstGeom prst="roundRect">
            <a:avLst>
              <a:gd name="adj" fmla="val 9474"/>
            </a:avLst>
          </a:prstGeom>
          <a:solidFill>
            <a:srgbClr val="002060"/>
          </a:solidFill>
          <a:ln/>
          <a:effectLst>
            <a:outerShdw blurRad="76200" dist="25400" dir="2700000" algn="bl" rotWithShape="0">
              <a:srgbClr val="000000">
                <a:alpha val="13000"/>
              </a:srgbClr>
            </a:outerShdw>
          </a:effectLst>
        </p:spPr>
        <p:txBody>
          <a:bodyPr/>
          <a:lstStyle/>
          <a:p>
            <a:endParaRPr lang="en-US"/>
          </a:p>
        </p:txBody>
      </p:sp>
      <p:sp>
        <p:nvSpPr>
          <p:cNvPr id="12" name="Text 10"/>
          <p:cNvSpPr/>
          <p:nvPr/>
        </p:nvSpPr>
        <p:spPr>
          <a:xfrm>
            <a:off x="3281389" y="766136"/>
            <a:ext cx="1371600" cy="530352"/>
          </a:xfrm>
          <a:prstGeom prst="rect">
            <a:avLst/>
          </a:prstGeom>
          <a:noFill/>
          <a:ln/>
        </p:spPr>
        <p:txBody>
          <a:bodyPr wrap="square" lIns="0" tIns="0" rIns="0" bIns="0" rtlCol="0" anchor="b"/>
          <a:lstStyle/>
          <a:p>
            <a:pPr marL="0" indent="0" algn="ctr">
              <a:buNone/>
            </a:pPr>
            <a:r>
              <a:rPr lang="en-US" sz="1700" b="1" dirty="0">
                <a:solidFill>
                  <a:srgbClr val="FFFFFF"/>
                </a:solidFill>
                <a:latin typeface="Calibri" pitchFamily="34" charset="0"/>
                <a:ea typeface="Calibri" pitchFamily="34" charset="-122"/>
                <a:cs typeface="Calibri" pitchFamily="34" charset="-120"/>
              </a:rPr>
              <a:t>$4.9T</a:t>
            </a:r>
            <a:endParaRPr lang="en-US" sz="1700" dirty="0"/>
          </a:p>
        </p:txBody>
      </p:sp>
      <p:sp>
        <p:nvSpPr>
          <p:cNvPr id="13" name="Text 11"/>
          <p:cNvSpPr/>
          <p:nvPr/>
        </p:nvSpPr>
        <p:spPr>
          <a:xfrm>
            <a:off x="3127248" y="825900"/>
            <a:ext cx="1371600" cy="347472"/>
          </a:xfrm>
          <a:prstGeom prst="rect">
            <a:avLst/>
          </a:prstGeom>
          <a:noFill/>
          <a:ln/>
        </p:spPr>
        <p:txBody>
          <a:bodyPr wrap="square" lIns="0" tIns="0" rIns="0" bIns="0" rtlCol="0" anchor="t"/>
          <a:lstStyle/>
          <a:p>
            <a:pPr marL="0" indent="0" algn="ctr">
              <a:buNone/>
            </a:pPr>
            <a:r>
              <a:rPr lang="en-US" sz="900" b="1" dirty="0">
                <a:solidFill>
                  <a:srgbClr val="FFFFFF"/>
                </a:solidFill>
                <a:latin typeface="Calibri" pitchFamily="34" charset="0"/>
                <a:ea typeface="Calibri" pitchFamily="34" charset="-122"/>
                <a:cs typeface="Calibri" pitchFamily="34" charset="-120"/>
              </a:rPr>
              <a:t>Total Profit</a:t>
            </a:r>
            <a:endParaRPr lang="en-US" sz="900" b="1" dirty="0"/>
          </a:p>
        </p:txBody>
      </p:sp>
      <p:sp>
        <p:nvSpPr>
          <p:cNvPr id="14" name="Shape 12"/>
          <p:cNvSpPr/>
          <p:nvPr/>
        </p:nvSpPr>
        <p:spPr>
          <a:xfrm>
            <a:off x="4608576" y="771690"/>
            <a:ext cx="1362456" cy="667512"/>
          </a:xfrm>
          <a:prstGeom prst="roundRect">
            <a:avLst>
              <a:gd name="adj" fmla="val 9474"/>
            </a:avLst>
          </a:prstGeom>
          <a:solidFill>
            <a:srgbClr val="002060"/>
          </a:solidFill>
          <a:ln/>
          <a:effectLst>
            <a:outerShdw blurRad="76200" dist="25400" dir="2700000" algn="bl" rotWithShape="0">
              <a:srgbClr val="000000">
                <a:alpha val="13000"/>
              </a:srgbClr>
            </a:outerShdw>
          </a:effectLst>
        </p:spPr>
        <p:txBody>
          <a:bodyPr/>
          <a:lstStyle/>
          <a:p>
            <a:endParaRPr lang="en-US"/>
          </a:p>
        </p:txBody>
      </p:sp>
      <p:sp>
        <p:nvSpPr>
          <p:cNvPr id="15" name="Text 13"/>
          <p:cNvSpPr/>
          <p:nvPr/>
        </p:nvSpPr>
        <p:spPr>
          <a:xfrm>
            <a:off x="4843376" y="750466"/>
            <a:ext cx="1371600" cy="530352"/>
          </a:xfrm>
          <a:prstGeom prst="rect">
            <a:avLst/>
          </a:prstGeom>
          <a:noFill/>
          <a:ln/>
        </p:spPr>
        <p:txBody>
          <a:bodyPr wrap="square" lIns="0" tIns="0" rIns="0" bIns="0" rtlCol="0" anchor="b"/>
          <a:lstStyle/>
          <a:p>
            <a:pPr marL="0" indent="0" algn="ctr">
              <a:buNone/>
            </a:pPr>
            <a:r>
              <a:rPr lang="en-US" sz="1700" b="1" dirty="0">
                <a:solidFill>
                  <a:srgbClr val="FFFFFF"/>
                </a:solidFill>
                <a:latin typeface="Calibri" pitchFamily="34" charset="0"/>
                <a:ea typeface="Calibri" pitchFamily="34" charset="-122"/>
                <a:cs typeface="Calibri" pitchFamily="34" charset="-120"/>
              </a:rPr>
              <a:t>$242.1T</a:t>
            </a:r>
            <a:endParaRPr lang="en-US" sz="1700" dirty="0"/>
          </a:p>
        </p:txBody>
      </p:sp>
      <p:sp>
        <p:nvSpPr>
          <p:cNvPr id="16" name="Text 14"/>
          <p:cNvSpPr/>
          <p:nvPr/>
        </p:nvSpPr>
        <p:spPr>
          <a:xfrm>
            <a:off x="4608576" y="817735"/>
            <a:ext cx="1371600" cy="347472"/>
          </a:xfrm>
          <a:prstGeom prst="rect">
            <a:avLst/>
          </a:prstGeom>
          <a:noFill/>
          <a:ln/>
        </p:spPr>
        <p:txBody>
          <a:bodyPr wrap="square" lIns="0" tIns="0" rIns="0" bIns="0" rtlCol="0" anchor="t"/>
          <a:lstStyle/>
          <a:p>
            <a:pPr marL="0" indent="0" algn="ctr">
              <a:buNone/>
            </a:pPr>
            <a:r>
              <a:rPr lang="en-US" sz="900" b="1" dirty="0">
                <a:solidFill>
                  <a:srgbClr val="FFFFFF"/>
                </a:solidFill>
                <a:latin typeface="Calibri" pitchFamily="34" charset="0"/>
                <a:ea typeface="Calibri" pitchFamily="34" charset="-122"/>
                <a:cs typeface="Calibri" pitchFamily="34" charset="-120"/>
              </a:rPr>
              <a:t>Total Assets</a:t>
            </a:r>
            <a:endParaRPr lang="en-US" sz="900" b="1" dirty="0"/>
          </a:p>
        </p:txBody>
      </p:sp>
      <p:sp>
        <p:nvSpPr>
          <p:cNvPr id="17" name="Shape 15"/>
          <p:cNvSpPr/>
          <p:nvPr/>
        </p:nvSpPr>
        <p:spPr>
          <a:xfrm>
            <a:off x="6089904" y="775281"/>
            <a:ext cx="1362456" cy="667512"/>
          </a:xfrm>
          <a:prstGeom prst="roundRect">
            <a:avLst>
              <a:gd name="adj" fmla="val 9474"/>
            </a:avLst>
          </a:prstGeom>
          <a:solidFill>
            <a:srgbClr val="002060"/>
          </a:solidFill>
          <a:ln/>
          <a:effectLst>
            <a:outerShdw blurRad="76200" dist="25400" dir="2700000" algn="bl" rotWithShape="0">
              <a:srgbClr val="000000">
                <a:alpha val="13000"/>
              </a:srgbClr>
            </a:outerShdw>
          </a:effectLst>
        </p:spPr>
        <p:txBody>
          <a:bodyPr/>
          <a:lstStyle/>
          <a:p>
            <a:endParaRPr lang="en-US"/>
          </a:p>
        </p:txBody>
      </p:sp>
      <p:sp>
        <p:nvSpPr>
          <p:cNvPr id="18" name="Text 16"/>
          <p:cNvSpPr/>
          <p:nvPr/>
        </p:nvSpPr>
        <p:spPr>
          <a:xfrm>
            <a:off x="6269842" y="741649"/>
            <a:ext cx="1371600" cy="530352"/>
          </a:xfrm>
          <a:prstGeom prst="rect">
            <a:avLst/>
          </a:prstGeom>
          <a:noFill/>
          <a:ln/>
        </p:spPr>
        <p:txBody>
          <a:bodyPr wrap="square" lIns="0" tIns="0" rIns="0" bIns="0" rtlCol="0" anchor="b"/>
          <a:lstStyle/>
          <a:p>
            <a:pPr marL="0" indent="0" algn="ctr">
              <a:buNone/>
            </a:pPr>
            <a:r>
              <a:rPr lang="en-US" sz="1700" b="1" dirty="0">
                <a:solidFill>
                  <a:srgbClr val="FFFFFF"/>
                </a:solidFill>
                <a:latin typeface="Calibri" pitchFamily="34" charset="0"/>
                <a:ea typeface="Calibri" pitchFamily="34" charset="-122"/>
                <a:cs typeface="Calibri" pitchFamily="34" charset="-120"/>
              </a:rPr>
              <a:t>$91.3T</a:t>
            </a:r>
            <a:endParaRPr lang="en-US" sz="1700" dirty="0"/>
          </a:p>
        </p:txBody>
      </p:sp>
      <p:sp>
        <p:nvSpPr>
          <p:cNvPr id="19" name="Text 17"/>
          <p:cNvSpPr/>
          <p:nvPr/>
        </p:nvSpPr>
        <p:spPr>
          <a:xfrm>
            <a:off x="6094472" y="801404"/>
            <a:ext cx="1371600" cy="347472"/>
          </a:xfrm>
          <a:prstGeom prst="rect">
            <a:avLst/>
          </a:prstGeom>
          <a:noFill/>
          <a:ln/>
        </p:spPr>
        <p:txBody>
          <a:bodyPr wrap="square" lIns="0" tIns="0" rIns="0" bIns="0" rtlCol="0" anchor="t"/>
          <a:lstStyle/>
          <a:p>
            <a:pPr marL="0" indent="0" algn="ctr">
              <a:buNone/>
            </a:pPr>
            <a:r>
              <a:rPr lang="en-US" sz="900" b="1" dirty="0">
                <a:solidFill>
                  <a:srgbClr val="FFFFFF"/>
                </a:solidFill>
                <a:latin typeface="Calibri" pitchFamily="34" charset="0"/>
                <a:ea typeface="Calibri" pitchFamily="34" charset="-122"/>
                <a:cs typeface="Calibri" pitchFamily="34" charset="-120"/>
              </a:rPr>
              <a:t>Market Value</a:t>
            </a:r>
            <a:endParaRPr lang="en-US" sz="900" b="1" dirty="0"/>
          </a:p>
        </p:txBody>
      </p:sp>
      <p:sp>
        <p:nvSpPr>
          <p:cNvPr id="20" name="Shape 18"/>
          <p:cNvSpPr/>
          <p:nvPr/>
        </p:nvSpPr>
        <p:spPr>
          <a:xfrm>
            <a:off x="7571232" y="767120"/>
            <a:ext cx="1362456" cy="667512"/>
          </a:xfrm>
          <a:prstGeom prst="roundRect">
            <a:avLst>
              <a:gd name="adj" fmla="val 9474"/>
            </a:avLst>
          </a:prstGeom>
          <a:solidFill>
            <a:srgbClr val="002060"/>
          </a:solidFill>
          <a:ln/>
          <a:effectLst>
            <a:outerShdw blurRad="76200" dist="25400" dir="2700000" algn="bl" rotWithShape="0">
              <a:srgbClr val="000000">
                <a:alpha val="13000"/>
              </a:srgbClr>
            </a:outerShdw>
          </a:effectLst>
        </p:spPr>
        <p:txBody>
          <a:bodyPr/>
          <a:lstStyle/>
          <a:p>
            <a:endParaRPr lang="en-US"/>
          </a:p>
        </p:txBody>
      </p:sp>
      <p:sp>
        <p:nvSpPr>
          <p:cNvPr id="21" name="Text 19"/>
          <p:cNvSpPr/>
          <p:nvPr/>
        </p:nvSpPr>
        <p:spPr>
          <a:xfrm>
            <a:off x="7657123" y="761564"/>
            <a:ext cx="1371600" cy="530352"/>
          </a:xfrm>
          <a:prstGeom prst="rect">
            <a:avLst/>
          </a:prstGeom>
          <a:noFill/>
          <a:ln/>
        </p:spPr>
        <p:txBody>
          <a:bodyPr wrap="square" lIns="0" tIns="0" rIns="0" bIns="0" rtlCol="0" anchor="b"/>
          <a:lstStyle/>
          <a:p>
            <a:pPr marL="0" indent="0" algn="ctr">
              <a:buNone/>
            </a:pPr>
            <a:r>
              <a:rPr lang="en-US" sz="1700" b="1" dirty="0">
                <a:solidFill>
                  <a:srgbClr val="FFFFFF"/>
                </a:solidFill>
                <a:latin typeface="Calibri" pitchFamily="34" charset="0"/>
                <a:ea typeface="Calibri" pitchFamily="34" charset="-122"/>
                <a:cs typeface="Calibri" pitchFamily="34" charset="-120"/>
              </a:rPr>
              <a:t>7.39</a:t>
            </a:r>
            <a:endParaRPr lang="en-US" sz="1700" dirty="0"/>
          </a:p>
        </p:txBody>
      </p:sp>
      <p:sp>
        <p:nvSpPr>
          <p:cNvPr id="22" name="Text 20"/>
          <p:cNvSpPr/>
          <p:nvPr/>
        </p:nvSpPr>
        <p:spPr>
          <a:xfrm>
            <a:off x="7563392" y="834068"/>
            <a:ext cx="1371600" cy="347472"/>
          </a:xfrm>
          <a:prstGeom prst="rect">
            <a:avLst/>
          </a:prstGeom>
          <a:noFill/>
          <a:ln/>
        </p:spPr>
        <p:txBody>
          <a:bodyPr wrap="square" lIns="0" tIns="0" rIns="0" bIns="0" rtlCol="0" anchor="t"/>
          <a:lstStyle/>
          <a:p>
            <a:pPr marL="0" indent="0" algn="ctr">
              <a:buNone/>
            </a:pPr>
            <a:r>
              <a:rPr lang="en-US" sz="900" b="1" dirty="0">
                <a:solidFill>
                  <a:srgbClr val="FFFFFF"/>
                </a:solidFill>
                <a:latin typeface="Calibri" pitchFamily="34" charset="0"/>
                <a:ea typeface="Calibri" pitchFamily="34" charset="-122"/>
                <a:cs typeface="Calibri" pitchFamily="34" charset="-120"/>
              </a:rPr>
              <a:t>Avg Investment Score</a:t>
            </a:r>
            <a:endParaRPr lang="en-US" sz="900" b="1" dirty="0"/>
          </a:p>
        </p:txBody>
      </p:sp>
      <p:sp>
        <p:nvSpPr>
          <p:cNvPr id="24" name="Text 22"/>
          <p:cNvSpPr/>
          <p:nvPr/>
        </p:nvSpPr>
        <p:spPr>
          <a:xfrm>
            <a:off x="365760" y="1920240"/>
            <a:ext cx="8412480" cy="2971800"/>
          </a:xfrm>
          <a:prstGeom prst="rect">
            <a:avLst/>
          </a:prstGeom>
          <a:noFill/>
          <a:ln/>
        </p:spPr>
        <p:txBody>
          <a:bodyPr wrap="square" lIns="0" tIns="0" rIns="0" bIns="0" rtlCol="0" anchor="ctr"/>
          <a:lstStyle/>
          <a:p>
            <a:pPr marL="0" indent="0" algn="ctr">
              <a:buNone/>
            </a:pPr>
            <a:endParaRPr lang="en-US" sz="1500" dirty="0"/>
          </a:p>
        </p:txBody>
      </p:sp>
      <p:sp>
        <p:nvSpPr>
          <p:cNvPr id="25" name="Text 23"/>
          <p:cNvSpPr/>
          <p:nvPr/>
        </p:nvSpPr>
        <p:spPr>
          <a:xfrm>
            <a:off x="365760" y="4880612"/>
            <a:ext cx="8412480" cy="274320"/>
          </a:xfrm>
          <a:prstGeom prst="rect">
            <a:avLst/>
          </a:prstGeom>
          <a:noFill/>
          <a:ln/>
        </p:spPr>
        <p:txBody>
          <a:bodyPr wrap="square" lIns="0" tIns="0" rIns="0" bIns="0" rtlCol="0" anchor="ctr"/>
          <a:lstStyle/>
          <a:p>
            <a:pPr marL="0" indent="0" algn="ctr">
              <a:buNone/>
            </a:pPr>
            <a:r>
              <a:rPr lang="en-US" sz="1100" b="1" dirty="0">
                <a:solidFill>
                  <a:srgbClr val="0D1B3E"/>
                </a:solidFill>
                <a:latin typeface="Calibri" pitchFamily="34" charset="0"/>
                <a:ea typeface="Calibri" pitchFamily="34" charset="-122"/>
                <a:cs typeface="Calibri" pitchFamily="34" charset="-120"/>
              </a:rPr>
              <a:t>Walmart leads Sales at $680.99B  |  Alphabet leads Profit at $111B  |  93.6% of companies are profitable</a:t>
            </a:r>
            <a:endParaRPr lang="en-US" sz="1100" dirty="0"/>
          </a:p>
        </p:txBody>
      </p:sp>
      <p:sp>
        <p:nvSpPr>
          <p:cNvPr id="23" name="Shape 21">
            <a:extLst>
              <a:ext uri="{FF2B5EF4-FFF2-40B4-BE49-F238E27FC236}">
                <a16:creationId xmlns:a16="http://schemas.microsoft.com/office/drawing/2014/main" id="{C273E6D8-A6B8-E8B1-535D-214B38F57F8A}"/>
              </a:ext>
            </a:extLst>
          </p:cNvPr>
          <p:cNvSpPr/>
          <p:nvPr/>
        </p:nvSpPr>
        <p:spPr>
          <a:xfrm>
            <a:off x="164592" y="1467612"/>
            <a:ext cx="8769096" cy="3447288"/>
          </a:xfrm>
          <a:prstGeom prst="roundRect">
            <a:avLst>
              <a:gd name="adj" fmla="val 0"/>
            </a:avLst>
          </a:prstGeom>
          <a:blipFill>
            <a:blip r:embed="rId3"/>
            <a:stretch>
              <a:fillRect/>
            </a:stretch>
          </a:blip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pic>
        <p:nvPicPr>
          <p:cNvPr id="27" name="Graphic 26" descr="Bar graph with upward trend with solid fill">
            <a:extLst>
              <a:ext uri="{FF2B5EF4-FFF2-40B4-BE49-F238E27FC236}">
                <a16:creationId xmlns:a16="http://schemas.microsoft.com/office/drawing/2014/main" id="{3EBD6EF0-FE64-93DA-6032-3783B4745F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24692" y="921084"/>
            <a:ext cx="457200" cy="457200"/>
          </a:xfrm>
          <a:prstGeom prst="rect">
            <a:avLst/>
          </a:prstGeom>
        </p:spPr>
      </p:pic>
      <p:pic>
        <p:nvPicPr>
          <p:cNvPr id="29" name="Graphic 28" descr="City with solid fill">
            <a:extLst>
              <a:ext uri="{FF2B5EF4-FFF2-40B4-BE49-F238E27FC236}">
                <a16:creationId xmlns:a16="http://schemas.microsoft.com/office/drawing/2014/main" id="{DE9C2AA7-EC24-1A1C-B59E-B724EEC98FE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4632" y="951624"/>
            <a:ext cx="457200" cy="457200"/>
          </a:xfrm>
          <a:prstGeom prst="rect">
            <a:avLst/>
          </a:prstGeom>
        </p:spPr>
      </p:pic>
      <p:pic>
        <p:nvPicPr>
          <p:cNvPr id="31" name="Graphic 30" descr="Money with solid fill">
            <a:extLst>
              <a:ext uri="{FF2B5EF4-FFF2-40B4-BE49-F238E27FC236}">
                <a16:creationId xmlns:a16="http://schemas.microsoft.com/office/drawing/2014/main" id="{66CD7D81-20BC-4080-468E-788845E2A33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71988" y="914883"/>
            <a:ext cx="457200" cy="457200"/>
          </a:xfrm>
          <a:prstGeom prst="rect">
            <a:avLst/>
          </a:prstGeom>
        </p:spPr>
      </p:pic>
      <p:pic>
        <p:nvPicPr>
          <p:cNvPr id="33" name="Graphic 32" descr="Briefcase with solid fill">
            <a:extLst>
              <a:ext uri="{FF2B5EF4-FFF2-40B4-BE49-F238E27FC236}">
                <a16:creationId xmlns:a16="http://schemas.microsoft.com/office/drawing/2014/main" id="{1BD21ACB-7962-09BE-B2DB-5B488574DCA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48742" y="936428"/>
            <a:ext cx="457200" cy="457200"/>
          </a:xfrm>
          <a:prstGeom prst="rect">
            <a:avLst/>
          </a:prstGeom>
        </p:spPr>
      </p:pic>
      <p:pic>
        <p:nvPicPr>
          <p:cNvPr id="35" name="Graphic 34" descr="Diamond with solid fill">
            <a:extLst>
              <a:ext uri="{FF2B5EF4-FFF2-40B4-BE49-F238E27FC236}">
                <a16:creationId xmlns:a16="http://schemas.microsoft.com/office/drawing/2014/main" id="{C51EBA13-D926-7CCE-1515-AD5A03BA110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49005" y="932031"/>
            <a:ext cx="457200" cy="457200"/>
          </a:xfrm>
          <a:prstGeom prst="rect">
            <a:avLst/>
          </a:prstGeom>
        </p:spPr>
      </p:pic>
      <p:pic>
        <p:nvPicPr>
          <p:cNvPr id="37" name="Graphic 36" descr="Bank with solid fill">
            <a:extLst>
              <a:ext uri="{FF2B5EF4-FFF2-40B4-BE49-F238E27FC236}">
                <a16:creationId xmlns:a16="http://schemas.microsoft.com/office/drawing/2014/main" id="{FF1B9D8F-4D4A-FEF4-C906-9FE26D78B40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594419" y="940195"/>
            <a:ext cx="457200" cy="457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txBody>
          <a:bodyPr/>
          <a:lstStyle/>
          <a:p>
            <a:endParaRPr lang="en-US"/>
          </a:p>
        </p:txBody>
      </p:sp>
      <p:sp>
        <p:nvSpPr>
          <p:cNvPr id="3" name="Text 1"/>
          <p:cNvSpPr/>
          <p:nvPr/>
        </p:nvSpPr>
        <p:spPr>
          <a:xfrm>
            <a:off x="457200" y="91440"/>
            <a:ext cx="8229600" cy="731520"/>
          </a:xfrm>
          <a:prstGeom prst="rect">
            <a:avLst/>
          </a:prstGeom>
          <a:noFill/>
          <a:ln/>
          <a:effectLst>
            <a:outerShdw blurRad="50800" dist="38100" dir="16200000" rotWithShape="0">
              <a:prstClr val="black">
                <a:alpha val="40000"/>
              </a:prstClr>
            </a:outerShdw>
          </a:effectLst>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COMPANY PERFORMANCE — Key Findings</a:t>
            </a:r>
            <a:endParaRPr lang="en-US" sz="2400" dirty="0"/>
          </a:p>
        </p:txBody>
      </p:sp>
      <p:sp>
        <p:nvSpPr>
          <p:cNvPr id="4" name="Shape 2"/>
          <p:cNvSpPr/>
          <p:nvPr/>
        </p:nvSpPr>
        <p:spPr>
          <a:xfrm>
            <a:off x="365760" y="1097280"/>
            <a:ext cx="4114800" cy="1737360"/>
          </a:xfrm>
          <a:prstGeom prst="roundRect">
            <a:avLst>
              <a:gd name="adj" fmla="val 5263"/>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5" name="Shape 3"/>
          <p:cNvSpPr/>
          <p:nvPr/>
        </p:nvSpPr>
        <p:spPr>
          <a:xfrm>
            <a:off x="502920" y="1280160"/>
            <a:ext cx="411480" cy="411480"/>
          </a:xfrm>
          <a:prstGeom prst="roundRect">
            <a:avLst>
              <a:gd name="adj" fmla="val 15556"/>
            </a:avLst>
          </a:prstGeom>
          <a:solidFill>
            <a:srgbClr val="002060"/>
          </a:solidFill>
          <a:ln/>
        </p:spPr>
        <p:txBody>
          <a:bodyPr/>
          <a:lstStyle/>
          <a:p>
            <a:endParaRPr lang="en-US"/>
          </a:p>
        </p:txBody>
      </p:sp>
      <p:sp>
        <p:nvSpPr>
          <p:cNvPr id="6" name="Text 4"/>
          <p:cNvSpPr/>
          <p:nvPr/>
        </p:nvSpPr>
        <p:spPr>
          <a:xfrm>
            <a:off x="502920" y="128016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005840" y="1261872"/>
            <a:ext cx="3337560" cy="43891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Walmart Paradox</a:t>
            </a:r>
            <a:endParaRPr lang="en-US" sz="1300" dirty="0"/>
          </a:p>
        </p:txBody>
      </p:sp>
      <p:sp>
        <p:nvSpPr>
          <p:cNvPr id="8" name="Text 6"/>
          <p:cNvSpPr/>
          <p:nvPr/>
        </p:nvSpPr>
        <p:spPr>
          <a:xfrm>
            <a:off x="502920" y="1783080"/>
            <a:ext cx="3840480" cy="91440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$680.99B in sales yet only 2.86% profit margin. World's largest retailer keeps less than 3 cents per dollar earned.</a:t>
            </a:r>
            <a:endParaRPr lang="en-US" sz="1200" dirty="0"/>
          </a:p>
        </p:txBody>
      </p:sp>
      <p:sp>
        <p:nvSpPr>
          <p:cNvPr id="9" name="Shape 7"/>
          <p:cNvSpPr/>
          <p:nvPr/>
        </p:nvSpPr>
        <p:spPr>
          <a:xfrm>
            <a:off x="365760" y="3063240"/>
            <a:ext cx="4114800" cy="1737360"/>
          </a:xfrm>
          <a:prstGeom prst="roundRect">
            <a:avLst>
              <a:gd name="adj" fmla="val 5263"/>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10" name="Shape 8"/>
          <p:cNvSpPr/>
          <p:nvPr/>
        </p:nvSpPr>
        <p:spPr>
          <a:xfrm>
            <a:off x="502920" y="3246120"/>
            <a:ext cx="411480" cy="411480"/>
          </a:xfrm>
          <a:prstGeom prst="roundRect">
            <a:avLst>
              <a:gd name="adj" fmla="val 15556"/>
            </a:avLst>
          </a:prstGeom>
          <a:solidFill>
            <a:srgbClr val="002060"/>
          </a:solidFill>
          <a:ln/>
        </p:spPr>
        <p:txBody>
          <a:bodyPr/>
          <a:lstStyle/>
          <a:p>
            <a:endParaRPr lang="en-US"/>
          </a:p>
        </p:txBody>
      </p:sp>
      <p:sp>
        <p:nvSpPr>
          <p:cNvPr id="11" name="Text 9"/>
          <p:cNvSpPr/>
          <p:nvPr/>
        </p:nvSpPr>
        <p:spPr>
          <a:xfrm>
            <a:off x="502920" y="32461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005840" y="3227832"/>
            <a:ext cx="3337560" cy="43891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Alphabet Leads Profit</a:t>
            </a:r>
            <a:endParaRPr lang="en-US" sz="1300" dirty="0"/>
          </a:p>
        </p:txBody>
      </p:sp>
      <p:sp>
        <p:nvSpPr>
          <p:cNvPr id="13" name="Text 11"/>
          <p:cNvSpPr/>
          <p:nvPr/>
        </p:nvSpPr>
        <p:spPr>
          <a:xfrm>
            <a:off x="502920" y="3749040"/>
            <a:ext cx="3840480" cy="91440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Alphabet tops profit at $111B — Tech companies dominate profitability despite not always leading in raw sales.</a:t>
            </a:r>
            <a:endParaRPr lang="en-US" sz="1200" dirty="0"/>
          </a:p>
        </p:txBody>
      </p:sp>
      <p:sp>
        <p:nvSpPr>
          <p:cNvPr id="14" name="Shape 12"/>
          <p:cNvSpPr/>
          <p:nvPr/>
        </p:nvSpPr>
        <p:spPr>
          <a:xfrm>
            <a:off x="4754880" y="1097280"/>
            <a:ext cx="4114800" cy="1737360"/>
          </a:xfrm>
          <a:prstGeom prst="roundRect">
            <a:avLst>
              <a:gd name="adj" fmla="val 5263"/>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15" name="Shape 13"/>
          <p:cNvSpPr/>
          <p:nvPr/>
        </p:nvSpPr>
        <p:spPr>
          <a:xfrm>
            <a:off x="4892040" y="1280160"/>
            <a:ext cx="411480" cy="411480"/>
          </a:xfrm>
          <a:prstGeom prst="roundRect">
            <a:avLst>
              <a:gd name="adj" fmla="val 15556"/>
            </a:avLst>
          </a:prstGeom>
          <a:solidFill>
            <a:srgbClr val="F9A825"/>
          </a:solidFill>
          <a:ln/>
        </p:spPr>
        <p:txBody>
          <a:bodyPr/>
          <a:lstStyle/>
          <a:p>
            <a:endParaRPr lang="en-US"/>
          </a:p>
        </p:txBody>
      </p:sp>
      <p:sp>
        <p:nvSpPr>
          <p:cNvPr id="16" name="Text 14"/>
          <p:cNvSpPr/>
          <p:nvPr/>
        </p:nvSpPr>
        <p:spPr>
          <a:xfrm>
            <a:off x="4892040" y="1280160"/>
            <a:ext cx="411480" cy="411480"/>
          </a:xfrm>
          <a:prstGeom prst="rect">
            <a:avLst/>
          </a:prstGeom>
          <a:solidFill>
            <a:srgbClr val="002060"/>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5394960" y="1261872"/>
            <a:ext cx="3337560" cy="43891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Rank Is Misleading</a:t>
            </a:r>
            <a:endParaRPr lang="en-US" sz="1300" dirty="0"/>
          </a:p>
        </p:txBody>
      </p:sp>
      <p:sp>
        <p:nvSpPr>
          <p:cNvPr id="18" name="Text 16"/>
          <p:cNvSpPr/>
          <p:nvPr/>
        </p:nvSpPr>
        <p:spPr>
          <a:xfrm>
            <a:off x="4892040" y="1783080"/>
            <a:ext cx="3840480" cy="91440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Several companies ranked 50–200 outperform top-20 peers on profit margin. Rank alone is a poor performance indicator.</a:t>
            </a:r>
            <a:endParaRPr lang="en-US" sz="1200" dirty="0"/>
          </a:p>
        </p:txBody>
      </p:sp>
      <p:sp>
        <p:nvSpPr>
          <p:cNvPr id="19" name="Shape 17"/>
          <p:cNvSpPr/>
          <p:nvPr/>
        </p:nvSpPr>
        <p:spPr>
          <a:xfrm>
            <a:off x="4754880" y="3063240"/>
            <a:ext cx="4114800" cy="1737360"/>
          </a:xfrm>
          <a:prstGeom prst="roundRect">
            <a:avLst>
              <a:gd name="adj" fmla="val 5263"/>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20" name="Shape 18"/>
          <p:cNvSpPr/>
          <p:nvPr/>
        </p:nvSpPr>
        <p:spPr>
          <a:xfrm>
            <a:off x="4892040" y="3246120"/>
            <a:ext cx="411480" cy="411480"/>
          </a:xfrm>
          <a:prstGeom prst="roundRect">
            <a:avLst>
              <a:gd name="adj" fmla="val 15556"/>
            </a:avLst>
          </a:prstGeom>
          <a:solidFill>
            <a:srgbClr val="002060"/>
          </a:solidFill>
          <a:ln/>
        </p:spPr>
        <p:txBody>
          <a:bodyPr/>
          <a:lstStyle/>
          <a:p>
            <a:endParaRPr lang="en-US"/>
          </a:p>
        </p:txBody>
      </p:sp>
      <p:sp>
        <p:nvSpPr>
          <p:cNvPr id="21" name="Text 19"/>
          <p:cNvSpPr/>
          <p:nvPr/>
        </p:nvSpPr>
        <p:spPr>
          <a:xfrm>
            <a:off x="4892040" y="32461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5394960" y="3227832"/>
            <a:ext cx="3337560" cy="438912"/>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93.6% Profitable</a:t>
            </a:r>
            <a:endParaRPr lang="en-US" sz="1300" dirty="0"/>
          </a:p>
        </p:txBody>
      </p:sp>
      <p:sp>
        <p:nvSpPr>
          <p:cNvPr id="23" name="Text 21"/>
          <p:cNvSpPr/>
          <p:nvPr/>
        </p:nvSpPr>
        <p:spPr>
          <a:xfrm>
            <a:off x="4892040" y="3749040"/>
            <a:ext cx="3840480" cy="914400"/>
          </a:xfrm>
          <a:prstGeom prst="rect">
            <a:avLst/>
          </a:prstGeom>
          <a:noFill/>
          <a:ln/>
        </p:spPr>
        <p:txBody>
          <a:bodyPr wrap="square" lIns="0" tIns="0" rIns="0" bIns="0" rtlCol="0" anchor="ctr"/>
          <a:lstStyle/>
          <a:p>
            <a:pPr marL="0" indent="0">
              <a:buNone/>
            </a:pPr>
            <a:r>
              <a:rPr lang="en-US" sz="1200" dirty="0">
                <a:solidFill>
                  <a:srgbClr val="374151"/>
                </a:solidFill>
                <a:latin typeface="Calibri" pitchFamily="34" charset="0"/>
                <a:ea typeface="Calibri" pitchFamily="34" charset="-122"/>
                <a:cs typeface="Calibri" pitchFamily="34" charset="-120"/>
              </a:rPr>
              <a:t>Only 127 of 1,998 companies are loss-making. The global corporate landscape is largely healthy and sustainable.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txBody>
          <a:bodyPr/>
          <a:lstStyle/>
          <a:p>
            <a:endParaRPr lang="en-US"/>
          </a:p>
        </p:txBody>
      </p:sp>
      <p:sp>
        <p:nvSpPr>
          <p:cNvPr id="3" name="Text 1"/>
          <p:cNvSpPr/>
          <p:nvPr/>
        </p:nvSpPr>
        <p:spPr>
          <a:xfrm>
            <a:off x="457200" y="91440"/>
            <a:ext cx="6400800" cy="7315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INDUSTRY PERFORMANCE DASHBOARD</a:t>
            </a:r>
            <a:endParaRPr lang="en-US" sz="2400" dirty="0"/>
          </a:p>
        </p:txBody>
      </p:sp>
      <p:sp>
        <p:nvSpPr>
          <p:cNvPr id="4" name="Text 2"/>
          <p:cNvSpPr/>
          <p:nvPr/>
        </p:nvSpPr>
        <p:spPr>
          <a:xfrm>
            <a:off x="6858000" y="228600"/>
            <a:ext cx="2011680" cy="411480"/>
          </a:xfrm>
          <a:prstGeom prst="rect">
            <a:avLst/>
          </a:prstGeom>
          <a:noFill/>
          <a:ln/>
        </p:spPr>
        <p:txBody>
          <a:bodyPr wrap="square" lIns="0" tIns="0" rIns="0" bIns="0" rtlCol="0" anchor="ctr"/>
          <a:lstStyle/>
          <a:p>
            <a:pPr marL="0" indent="0" algn="r">
              <a:buNone/>
            </a:pPr>
            <a:r>
              <a:rPr lang="en-US" sz="1100" b="1" dirty="0">
                <a:solidFill>
                  <a:srgbClr val="90A4AE"/>
                </a:solidFill>
                <a:latin typeface="Calibri" pitchFamily="34" charset="0"/>
                <a:ea typeface="Calibri" pitchFamily="34" charset="-122"/>
                <a:cs typeface="Calibri" pitchFamily="34" charset="-120"/>
              </a:rPr>
              <a:t>Dashboard Page 2 of 4</a:t>
            </a:r>
            <a:endParaRPr lang="en-US" sz="1100" b="1" dirty="0"/>
          </a:p>
        </p:txBody>
      </p:sp>
      <p:sp>
        <p:nvSpPr>
          <p:cNvPr id="5" name="Shape 3"/>
          <p:cNvSpPr/>
          <p:nvPr/>
        </p:nvSpPr>
        <p:spPr>
          <a:xfrm>
            <a:off x="365760" y="987551"/>
            <a:ext cx="8275320" cy="3624287"/>
          </a:xfrm>
          <a:prstGeom prst="roundRect">
            <a:avLst>
              <a:gd name="adj" fmla="val 3429"/>
            </a:avLst>
          </a:prstGeom>
          <a:blipFill>
            <a:blip r:embed="rId3"/>
            <a:stretch>
              <a:fillRect/>
            </a:stretch>
          </a:blipFill>
          <a:ln/>
          <a:effectLst>
            <a:outerShdw blurRad="76200" dist="25400" dir="2700000" algn="bl" rotWithShape="0">
              <a:srgbClr val="000000">
                <a:alpha val="13000"/>
              </a:srgbClr>
            </a:outerShdw>
          </a:effectLst>
        </p:spPr>
        <p:txBody>
          <a:bodyPr/>
          <a:lstStyle/>
          <a:p>
            <a:endParaRPr lang="en-US"/>
          </a:p>
        </p:txBody>
      </p:sp>
      <p:sp>
        <p:nvSpPr>
          <p:cNvPr id="7" name="Shape 5"/>
          <p:cNvSpPr/>
          <p:nvPr/>
        </p:nvSpPr>
        <p:spPr>
          <a:xfrm>
            <a:off x="373923" y="4645471"/>
            <a:ext cx="1887583" cy="482346"/>
          </a:xfrm>
          <a:prstGeom prst="roundRect">
            <a:avLst>
              <a:gd name="adj" fmla="val 12500"/>
            </a:avLst>
          </a:prstGeom>
          <a:solidFill>
            <a:srgbClr val="002060"/>
          </a:solidFill>
          <a:ln/>
        </p:spPr>
        <p:txBody>
          <a:bodyPr/>
          <a:lstStyle/>
          <a:p>
            <a:endParaRPr lang="en-US"/>
          </a:p>
        </p:txBody>
      </p:sp>
      <p:sp>
        <p:nvSpPr>
          <p:cNvPr id="8" name="Text 6"/>
          <p:cNvSpPr/>
          <p:nvPr/>
        </p:nvSpPr>
        <p:spPr>
          <a:xfrm>
            <a:off x="365760" y="4569056"/>
            <a:ext cx="1965960" cy="292608"/>
          </a:xfrm>
          <a:prstGeom prst="rect">
            <a:avLst/>
          </a:prstGeom>
          <a:noFill/>
          <a:ln/>
        </p:spPr>
        <p:txBody>
          <a:bodyPr wrap="square" lIns="0" tIns="0" rIns="0" bIns="0" rtlCol="0" anchor="b"/>
          <a:lstStyle/>
          <a:p>
            <a:pPr marL="0" indent="0" algn="ctr">
              <a:buNone/>
            </a:pPr>
            <a:r>
              <a:rPr lang="en-US" sz="900" b="1" dirty="0">
                <a:solidFill>
                  <a:srgbClr val="FFFFFF"/>
                </a:solidFill>
                <a:latin typeface="Calibri" pitchFamily="34" charset="0"/>
                <a:ea typeface="Calibri" pitchFamily="34" charset="-122"/>
                <a:cs typeface="Calibri" pitchFamily="34" charset="-120"/>
              </a:rPr>
              <a:t>Highest Sales</a:t>
            </a:r>
            <a:endParaRPr lang="en-US" sz="900" b="1" dirty="0"/>
          </a:p>
        </p:txBody>
      </p:sp>
      <p:sp>
        <p:nvSpPr>
          <p:cNvPr id="9" name="Text 7"/>
          <p:cNvSpPr/>
          <p:nvPr/>
        </p:nvSpPr>
        <p:spPr>
          <a:xfrm>
            <a:off x="365760" y="4884192"/>
            <a:ext cx="1965960" cy="347472"/>
          </a:xfrm>
          <a:prstGeom prst="rect">
            <a:avLst/>
          </a:prstGeom>
          <a:noFill/>
          <a:ln/>
        </p:spPr>
        <p:txBody>
          <a:bodyPr wrap="square" lIns="0" tIns="0" rIns="0" bIns="0" rtlCol="0" anchor="t"/>
          <a:lstStyle/>
          <a:p>
            <a:pPr marL="0" indent="0" algn="ctr">
              <a:buNone/>
            </a:pPr>
            <a:r>
              <a:rPr lang="en-US" sz="1000" b="1" dirty="0">
                <a:solidFill>
                  <a:srgbClr val="FFFFFF"/>
                </a:solidFill>
                <a:latin typeface="Calibri" pitchFamily="34" charset="0"/>
                <a:ea typeface="Calibri" pitchFamily="34" charset="-122"/>
                <a:cs typeface="Calibri" pitchFamily="34" charset="-120"/>
              </a:rPr>
              <a:t>Oil &amp; Gas</a:t>
            </a:r>
            <a:endParaRPr lang="en-US" sz="1000" dirty="0"/>
          </a:p>
        </p:txBody>
      </p:sp>
      <p:sp>
        <p:nvSpPr>
          <p:cNvPr id="10" name="Shape 8"/>
          <p:cNvSpPr/>
          <p:nvPr/>
        </p:nvSpPr>
        <p:spPr>
          <a:xfrm>
            <a:off x="2493372" y="4642531"/>
            <a:ext cx="1883664" cy="484632"/>
          </a:xfrm>
          <a:prstGeom prst="roundRect">
            <a:avLst>
              <a:gd name="adj" fmla="val 12500"/>
            </a:avLst>
          </a:prstGeom>
          <a:solidFill>
            <a:srgbClr val="002060"/>
          </a:solidFill>
          <a:ln/>
        </p:spPr>
        <p:txBody>
          <a:bodyPr/>
          <a:lstStyle/>
          <a:p>
            <a:endParaRPr lang="en-US"/>
          </a:p>
        </p:txBody>
      </p:sp>
      <p:sp>
        <p:nvSpPr>
          <p:cNvPr id="11" name="Text 9"/>
          <p:cNvSpPr/>
          <p:nvPr/>
        </p:nvSpPr>
        <p:spPr>
          <a:xfrm>
            <a:off x="2468880" y="4569061"/>
            <a:ext cx="1965960" cy="292608"/>
          </a:xfrm>
          <a:prstGeom prst="rect">
            <a:avLst/>
          </a:prstGeom>
          <a:noFill/>
          <a:ln/>
        </p:spPr>
        <p:txBody>
          <a:bodyPr wrap="square" lIns="0" tIns="0" rIns="0" bIns="0" rtlCol="0" anchor="b"/>
          <a:lstStyle/>
          <a:p>
            <a:pPr marL="0" indent="0" algn="ctr">
              <a:buNone/>
            </a:pPr>
            <a:r>
              <a:rPr lang="en-US" sz="900" b="1" dirty="0">
                <a:solidFill>
                  <a:srgbClr val="FFFFFF"/>
                </a:solidFill>
                <a:latin typeface="Calibri" pitchFamily="34" charset="0"/>
                <a:ea typeface="Calibri" pitchFamily="34" charset="-122"/>
                <a:cs typeface="Calibri" pitchFamily="34" charset="-120"/>
              </a:rPr>
              <a:t>Highest Profit Margin</a:t>
            </a:r>
            <a:endParaRPr lang="en-US" sz="900" b="1" dirty="0"/>
          </a:p>
        </p:txBody>
      </p:sp>
      <p:sp>
        <p:nvSpPr>
          <p:cNvPr id="12" name="Text 10"/>
          <p:cNvSpPr/>
          <p:nvPr/>
        </p:nvSpPr>
        <p:spPr>
          <a:xfrm>
            <a:off x="2468880" y="4876031"/>
            <a:ext cx="1965960" cy="347472"/>
          </a:xfrm>
          <a:prstGeom prst="rect">
            <a:avLst/>
          </a:prstGeom>
          <a:noFill/>
          <a:ln/>
        </p:spPr>
        <p:txBody>
          <a:bodyPr wrap="square" lIns="0" tIns="0" rIns="0" bIns="0" rtlCol="0" anchor="t"/>
          <a:lstStyle/>
          <a:p>
            <a:pPr marL="0" indent="0" algn="ctr">
              <a:buNone/>
            </a:pPr>
            <a:r>
              <a:rPr lang="en-US" sz="1000" b="1" dirty="0">
                <a:solidFill>
                  <a:srgbClr val="FFFFFF"/>
                </a:solidFill>
                <a:latin typeface="Calibri" pitchFamily="34" charset="0"/>
                <a:ea typeface="Calibri" pitchFamily="34" charset="-122"/>
                <a:cs typeface="Calibri" pitchFamily="34" charset="-120"/>
              </a:rPr>
              <a:t>Diversified Financials  43.1%</a:t>
            </a:r>
            <a:endParaRPr lang="en-US" sz="1000" dirty="0"/>
          </a:p>
        </p:txBody>
      </p:sp>
      <p:sp>
        <p:nvSpPr>
          <p:cNvPr id="13" name="Shape 11"/>
          <p:cNvSpPr/>
          <p:nvPr/>
        </p:nvSpPr>
        <p:spPr>
          <a:xfrm>
            <a:off x="4612820" y="4634368"/>
            <a:ext cx="1883664" cy="484632"/>
          </a:xfrm>
          <a:prstGeom prst="roundRect">
            <a:avLst>
              <a:gd name="adj" fmla="val 12500"/>
            </a:avLst>
          </a:prstGeom>
          <a:solidFill>
            <a:srgbClr val="002060"/>
          </a:solidFill>
          <a:ln/>
        </p:spPr>
        <p:txBody>
          <a:bodyPr/>
          <a:lstStyle/>
          <a:p>
            <a:endParaRPr lang="en-US"/>
          </a:p>
        </p:txBody>
      </p:sp>
      <p:sp>
        <p:nvSpPr>
          <p:cNvPr id="14" name="Text 12"/>
          <p:cNvSpPr/>
          <p:nvPr/>
        </p:nvSpPr>
        <p:spPr>
          <a:xfrm>
            <a:off x="4572000" y="4560893"/>
            <a:ext cx="1965960" cy="292608"/>
          </a:xfrm>
          <a:prstGeom prst="rect">
            <a:avLst/>
          </a:prstGeom>
          <a:noFill/>
          <a:ln/>
        </p:spPr>
        <p:txBody>
          <a:bodyPr wrap="square" lIns="0" tIns="0" rIns="0" bIns="0" rtlCol="0" anchor="b"/>
          <a:lstStyle/>
          <a:p>
            <a:pPr marL="0" indent="0" algn="ctr">
              <a:buNone/>
            </a:pPr>
            <a:r>
              <a:rPr lang="en-US" sz="900" b="1" dirty="0">
                <a:solidFill>
                  <a:srgbClr val="FFFFFF"/>
                </a:solidFill>
                <a:latin typeface="Calibri" pitchFamily="34" charset="0"/>
                <a:ea typeface="Calibri" pitchFamily="34" charset="-122"/>
                <a:cs typeface="Calibri" pitchFamily="34" charset="-120"/>
              </a:rPr>
              <a:t>Highest Market Value</a:t>
            </a:r>
            <a:endParaRPr lang="en-US" sz="900" b="1" dirty="0"/>
          </a:p>
        </p:txBody>
      </p:sp>
      <p:sp>
        <p:nvSpPr>
          <p:cNvPr id="15" name="Text 13"/>
          <p:cNvSpPr/>
          <p:nvPr/>
        </p:nvSpPr>
        <p:spPr>
          <a:xfrm>
            <a:off x="4572000" y="4859711"/>
            <a:ext cx="1965960" cy="347472"/>
          </a:xfrm>
          <a:prstGeom prst="rect">
            <a:avLst/>
          </a:prstGeom>
          <a:noFill/>
          <a:ln/>
        </p:spPr>
        <p:txBody>
          <a:bodyPr wrap="square" lIns="0" tIns="0" rIns="0" bIns="0" rtlCol="0" anchor="t"/>
          <a:lstStyle/>
          <a:p>
            <a:pPr marL="0" indent="0" algn="ctr">
              <a:buNone/>
            </a:pPr>
            <a:r>
              <a:rPr lang="en-US" sz="1000" b="1" dirty="0">
                <a:solidFill>
                  <a:srgbClr val="FFFFFF"/>
                </a:solidFill>
                <a:latin typeface="Calibri" pitchFamily="34" charset="0"/>
                <a:ea typeface="Calibri" pitchFamily="34" charset="-122"/>
                <a:cs typeface="Calibri" pitchFamily="34" charset="-120"/>
              </a:rPr>
              <a:t>IT Software &amp; Services</a:t>
            </a:r>
            <a:endParaRPr lang="en-US" sz="1000" dirty="0"/>
          </a:p>
        </p:txBody>
      </p:sp>
      <p:sp>
        <p:nvSpPr>
          <p:cNvPr id="16" name="Shape 14"/>
          <p:cNvSpPr/>
          <p:nvPr/>
        </p:nvSpPr>
        <p:spPr>
          <a:xfrm>
            <a:off x="6732268" y="4634371"/>
            <a:ext cx="1883664" cy="484632"/>
          </a:xfrm>
          <a:prstGeom prst="roundRect">
            <a:avLst>
              <a:gd name="adj" fmla="val 12500"/>
            </a:avLst>
          </a:prstGeom>
          <a:solidFill>
            <a:srgbClr val="002060"/>
          </a:solidFill>
          <a:ln/>
        </p:spPr>
        <p:txBody>
          <a:bodyPr/>
          <a:lstStyle/>
          <a:p>
            <a:endParaRPr lang="en-US"/>
          </a:p>
        </p:txBody>
      </p:sp>
      <p:sp>
        <p:nvSpPr>
          <p:cNvPr id="17" name="Text 15"/>
          <p:cNvSpPr/>
          <p:nvPr/>
        </p:nvSpPr>
        <p:spPr>
          <a:xfrm>
            <a:off x="6675120" y="4528239"/>
            <a:ext cx="1965960" cy="292608"/>
          </a:xfrm>
          <a:prstGeom prst="rect">
            <a:avLst/>
          </a:prstGeom>
          <a:noFill/>
          <a:ln/>
        </p:spPr>
        <p:txBody>
          <a:bodyPr wrap="square" lIns="0" tIns="0" rIns="0" bIns="0" rtlCol="0" anchor="b"/>
          <a:lstStyle/>
          <a:p>
            <a:pPr marL="0" indent="0" algn="ctr">
              <a:buNone/>
            </a:pPr>
            <a:r>
              <a:rPr lang="en-US" sz="900" b="1" dirty="0">
                <a:solidFill>
                  <a:srgbClr val="FFFFFF"/>
                </a:solidFill>
                <a:latin typeface="Calibri" pitchFamily="34" charset="0"/>
                <a:ea typeface="Calibri" pitchFamily="34" charset="-122"/>
                <a:cs typeface="Calibri" pitchFamily="34" charset="-120"/>
              </a:rPr>
              <a:t>Lowest Margin</a:t>
            </a:r>
            <a:endParaRPr lang="en-US" sz="900" b="1" dirty="0"/>
          </a:p>
        </p:txBody>
      </p:sp>
      <p:sp>
        <p:nvSpPr>
          <p:cNvPr id="18" name="Text 16"/>
          <p:cNvSpPr/>
          <p:nvPr/>
        </p:nvSpPr>
        <p:spPr>
          <a:xfrm>
            <a:off x="6675120" y="4827048"/>
            <a:ext cx="1965960" cy="347472"/>
          </a:xfrm>
          <a:prstGeom prst="rect">
            <a:avLst/>
          </a:prstGeom>
          <a:noFill/>
          <a:ln/>
        </p:spPr>
        <p:txBody>
          <a:bodyPr wrap="square" lIns="0" tIns="0" rIns="0" bIns="0" rtlCol="0" anchor="t"/>
          <a:lstStyle/>
          <a:p>
            <a:pPr marL="0" indent="0" algn="ctr">
              <a:buNone/>
            </a:pPr>
            <a:r>
              <a:rPr lang="en-US" sz="1000" b="1" dirty="0">
                <a:solidFill>
                  <a:srgbClr val="FFFFFF"/>
                </a:solidFill>
                <a:latin typeface="Calibri" pitchFamily="34" charset="0"/>
                <a:ea typeface="Calibri" pitchFamily="34" charset="-122"/>
                <a:cs typeface="Calibri" pitchFamily="34" charset="-120"/>
              </a:rPr>
              <a:t>Retailing  13.7%</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INDUSTRY ANALYSIS — Key Findings</a:t>
            </a:r>
            <a:endParaRPr lang="en-US" sz="2400" dirty="0"/>
          </a:p>
        </p:txBody>
      </p:sp>
      <p:sp>
        <p:nvSpPr>
          <p:cNvPr id="4" name="Shape 2"/>
          <p:cNvSpPr/>
          <p:nvPr/>
        </p:nvSpPr>
        <p:spPr>
          <a:xfrm>
            <a:off x="365760" y="1005840"/>
            <a:ext cx="8412480" cy="658368"/>
          </a:xfrm>
          <a:prstGeom prst="roundRect">
            <a:avLst>
              <a:gd name="adj" fmla="val 12500"/>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5" name="Shape 3"/>
          <p:cNvSpPr/>
          <p:nvPr/>
        </p:nvSpPr>
        <p:spPr>
          <a:xfrm>
            <a:off x="365760" y="1005840"/>
            <a:ext cx="1280160" cy="658368"/>
          </a:xfrm>
          <a:prstGeom prst="roundRect">
            <a:avLst>
              <a:gd name="adj" fmla="val 12500"/>
            </a:avLst>
          </a:prstGeom>
          <a:solidFill>
            <a:srgbClr val="1565C0"/>
          </a:solidFill>
          <a:ln>
            <a:solidFill>
              <a:schemeClr val="accent1"/>
            </a:solidFill>
          </a:ln>
        </p:spPr>
        <p:txBody>
          <a:bodyPr/>
          <a:lstStyle/>
          <a:p>
            <a:endParaRPr lang="en-US"/>
          </a:p>
        </p:txBody>
      </p:sp>
      <p:sp>
        <p:nvSpPr>
          <p:cNvPr id="6" name="Text 4"/>
          <p:cNvSpPr/>
          <p:nvPr/>
        </p:nvSpPr>
        <p:spPr>
          <a:xfrm>
            <a:off x="365760" y="1005840"/>
            <a:ext cx="1280160" cy="6583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SALES LEADER</a:t>
            </a:r>
            <a:endParaRPr lang="en-US" sz="900" dirty="0"/>
          </a:p>
        </p:txBody>
      </p:sp>
      <p:sp>
        <p:nvSpPr>
          <p:cNvPr id="7" name="Text 5"/>
          <p:cNvSpPr/>
          <p:nvPr/>
        </p:nvSpPr>
        <p:spPr>
          <a:xfrm>
            <a:off x="1783080" y="1069848"/>
            <a:ext cx="6858000" cy="530352"/>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Oil &amp; Gas leads total sales at $5,231.75B — significantly ahead of Insurance ($4,376.69B) and Consumer sector</a:t>
            </a:r>
            <a:endParaRPr lang="en-US" sz="1200" dirty="0"/>
          </a:p>
        </p:txBody>
      </p:sp>
      <p:sp>
        <p:nvSpPr>
          <p:cNvPr id="8" name="Shape 6"/>
          <p:cNvSpPr/>
          <p:nvPr/>
        </p:nvSpPr>
        <p:spPr>
          <a:xfrm>
            <a:off x="365760" y="1783080"/>
            <a:ext cx="8412480" cy="658368"/>
          </a:xfrm>
          <a:prstGeom prst="roundRect">
            <a:avLst>
              <a:gd name="adj" fmla="val 12500"/>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9" name="Shape 7"/>
          <p:cNvSpPr/>
          <p:nvPr/>
        </p:nvSpPr>
        <p:spPr>
          <a:xfrm>
            <a:off x="365760" y="1783080"/>
            <a:ext cx="1280160" cy="658368"/>
          </a:xfrm>
          <a:prstGeom prst="roundRect">
            <a:avLst>
              <a:gd name="adj" fmla="val 12500"/>
            </a:avLst>
          </a:prstGeom>
          <a:solidFill>
            <a:srgbClr val="2E7D32"/>
          </a:solidFill>
          <a:ln>
            <a:solidFill>
              <a:schemeClr val="accent6"/>
            </a:solidFill>
          </a:ln>
        </p:spPr>
        <p:txBody>
          <a:bodyPr/>
          <a:lstStyle/>
          <a:p>
            <a:endParaRPr lang="en-US"/>
          </a:p>
        </p:txBody>
      </p:sp>
      <p:sp>
        <p:nvSpPr>
          <p:cNvPr id="10" name="Text 8"/>
          <p:cNvSpPr/>
          <p:nvPr/>
        </p:nvSpPr>
        <p:spPr>
          <a:xfrm>
            <a:off x="365760" y="1783080"/>
            <a:ext cx="1280160" cy="6583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TOP MARGIN</a:t>
            </a:r>
            <a:endParaRPr lang="en-US" sz="900" dirty="0"/>
          </a:p>
        </p:txBody>
      </p:sp>
      <p:sp>
        <p:nvSpPr>
          <p:cNvPr id="11" name="Text 9"/>
          <p:cNvSpPr/>
          <p:nvPr/>
        </p:nvSpPr>
        <p:spPr>
          <a:xfrm>
            <a:off x="1783080" y="1847088"/>
            <a:ext cx="6858000" cy="530352"/>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Diversified Financials has the highest profit margin at 43.1% — the most efficient industry, 3x the global average</a:t>
            </a:r>
            <a:endParaRPr lang="en-US" sz="1200" dirty="0"/>
          </a:p>
        </p:txBody>
      </p:sp>
      <p:sp>
        <p:nvSpPr>
          <p:cNvPr id="12" name="Shape 10"/>
          <p:cNvSpPr/>
          <p:nvPr/>
        </p:nvSpPr>
        <p:spPr>
          <a:xfrm>
            <a:off x="365760" y="2560320"/>
            <a:ext cx="8412480" cy="658368"/>
          </a:xfrm>
          <a:prstGeom prst="roundRect">
            <a:avLst>
              <a:gd name="adj" fmla="val 12500"/>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13" name="Shape 11"/>
          <p:cNvSpPr/>
          <p:nvPr/>
        </p:nvSpPr>
        <p:spPr>
          <a:xfrm>
            <a:off x="365760" y="2560320"/>
            <a:ext cx="1280160" cy="658368"/>
          </a:xfrm>
          <a:prstGeom prst="roundRect">
            <a:avLst>
              <a:gd name="adj" fmla="val 12500"/>
            </a:avLst>
          </a:prstGeom>
          <a:solidFill>
            <a:srgbClr val="6A1B9A"/>
          </a:solidFill>
          <a:ln>
            <a:solidFill>
              <a:srgbClr val="7030A0"/>
            </a:solidFill>
          </a:ln>
        </p:spPr>
        <p:txBody>
          <a:bodyPr/>
          <a:lstStyle/>
          <a:p>
            <a:endParaRPr lang="en-US"/>
          </a:p>
        </p:txBody>
      </p:sp>
      <p:sp>
        <p:nvSpPr>
          <p:cNvPr id="14" name="Text 12"/>
          <p:cNvSpPr/>
          <p:nvPr/>
        </p:nvSpPr>
        <p:spPr>
          <a:xfrm>
            <a:off x="365760" y="2560320"/>
            <a:ext cx="1280160" cy="6583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MV LEADER</a:t>
            </a:r>
            <a:endParaRPr lang="en-US" sz="900" dirty="0"/>
          </a:p>
        </p:txBody>
      </p:sp>
      <p:sp>
        <p:nvSpPr>
          <p:cNvPr id="15" name="Text 13"/>
          <p:cNvSpPr/>
          <p:nvPr/>
        </p:nvSpPr>
        <p:spPr>
          <a:xfrm>
            <a:off x="1783080" y="2624328"/>
            <a:ext cx="6858000" cy="530352"/>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IT Software &amp; Services leads market value at $13.31K — investors place the highest future premium on tech companies</a:t>
            </a:r>
            <a:endParaRPr lang="en-US" sz="1200" dirty="0"/>
          </a:p>
        </p:txBody>
      </p:sp>
      <p:sp>
        <p:nvSpPr>
          <p:cNvPr id="16" name="Shape 14"/>
          <p:cNvSpPr/>
          <p:nvPr/>
        </p:nvSpPr>
        <p:spPr>
          <a:xfrm>
            <a:off x="365760" y="3337560"/>
            <a:ext cx="8412480" cy="658368"/>
          </a:xfrm>
          <a:prstGeom prst="roundRect">
            <a:avLst>
              <a:gd name="adj" fmla="val 12500"/>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17" name="Shape 15"/>
          <p:cNvSpPr/>
          <p:nvPr/>
        </p:nvSpPr>
        <p:spPr>
          <a:xfrm>
            <a:off x="365760" y="3337560"/>
            <a:ext cx="1280160" cy="658368"/>
          </a:xfrm>
          <a:prstGeom prst="roundRect">
            <a:avLst>
              <a:gd name="adj" fmla="val 12500"/>
            </a:avLst>
          </a:prstGeom>
          <a:solidFill>
            <a:srgbClr val="E53935"/>
          </a:solidFill>
          <a:ln>
            <a:solidFill>
              <a:srgbClr val="FF0000"/>
            </a:solidFill>
          </a:ln>
        </p:spPr>
        <p:txBody>
          <a:bodyPr/>
          <a:lstStyle/>
          <a:p>
            <a:endParaRPr lang="en-US"/>
          </a:p>
        </p:txBody>
      </p:sp>
      <p:sp>
        <p:nvSpPr>
          <p:cNvPr id="18" name="Text 16"/>
          <p:cNvSpPr/>
          <p:nvPr/>
        </p:nvSpPr>
        <p:spPr>
          <a:xfrm>
            <a:off x="365760" y="3337560"/>
            <a:ext cx="1280160" cy="6583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CAUTION</a:t>
            </a:r>
            <a:endParaRPr lang="en-US" sz="900" dirty="0"/>
          </a:p>
        </p:txBody>
      </p:sp>
      <p:sp>
        <p:nvSpPr>
          <p:cNvPr id="19" name="Text 17"/>
          <p:cNvSpPr/>
          <p:nvPr/>
        </p:nvSpPr>
        <p:spPr>
          <a:xfrm>
            <a:off x="1783080" y="3401568"/>
            <a:ext cx="6858000" cy="530352"/>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Retailing has the lowest profit margin at 13.7% — confirmed by Walmart's 2.86% — volume business, thin returns</a:t>
            </a:r>
            <a:endParaRPr lang="en-US" sz="1200" dirty="0"/>
          </a:p>
        </p:txBody>
      </p:sp>
      <p:sp>
        <p:nvSpPr>
          <p:cNvPr id="20" name="Shape 18"/>
          <p:cNvSpPr/>
          <p:nvPr/>
        </p:nvSpPr>
        <p:spPr>
          <a:xfrm>
            <a:off x="365760" y="4114800"/>
            <a:ext cx="8412480" cy="658368"/>
          </a:xfrm>
          <a:prstGeom prst="roundRect">
            <a:avLst>
              <a:gd name="adj" fmla="val 12500"/>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21" name="Shape 19"/>
          <p:cNvSpPr/>
          <p:nvPr/>
        </p:nvSpPr>
        <p:spPr>
          <a:xfrm>
            <a:off x="365760" y="4114800"/>
            <a:ext cx="1280160" cy="658368"/>
          </a:xfrm>
          <a:prstGeom prst="roundRect">
            <a:avLst>
              <a:gd name="adj" fmla="val 12500"/>
            </a:avLst>
          </a:prstGeom>
          <a:solidFill>
            <a:srgbClr val="F9A825"/>
          </a:solidFill>
          <a:ln>
            <a:solidFill>
              <a:srgbClr val="FFC000"/>
            </a:solidFill>
          </a:ln>
        </p:spPr>
        <p:txBody>
          <a:bodyPr/>
          <a:lstStyle/>
          <a:p>
            <a:endParaRPr lang="en-US"/>
          </a:p>
        </p:txBody>
      </p:sp>
      <p:sp>
        <p:nvSpPr>
          <p:cNvPr id="22" name="Text 20"/>
          <p:cNvSpPr/>
          <p:nvPr/>
        </p:nvSpPr>
        <p:spPr>
          <a:xfrm>
            <a:off x="365760" y="4114800"/>
            <a:ext cx="1280160" cy="6583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BEST ROA</a:t>
            </a:r>
            <a:endParaRPr lang="en-US" sz="900" dirty="0"/>
          </a:p>
        </p:txBody>
      </p:sp>
      <p:sp>
        <p:nvSpPr>
          <p:cNvPr id="23" name="Text 21"/>
          <p:cNvSpPr/>
          <p:nvPr/>
        </p:nvSpPr>
        <p:spPr>
          <a:xfrm>
            <a:off x="1783080" y="4178808"/>
            <a:ext cx="6858000" cy="530352"/>
          </a:xfrm>
          <a:prstGeom prst="rect">
            <a:avLst/>
          </a:prstGeom>
          <a:noFill/>
          <a:ln/>
        </p:spPr>
        <p:txBody>
          <a:bodyPr wrap="square" lIns="0" tIns="0" rIns="0" bIns="0" rtlCol="0" anchor="ctr"/>
          <a:lstStyle/>
          <a:p>
            <a:pPr marL="0" indent="0">
              <a:buNone/>
            </a:pPr>
            <a:r>
              <a:rPr lang="en-US" sz="1200" dirty="0">
                <a:solidFill>
                  <a:srgbClr val="1B2A4A"/>
                </a:solidFill>
                <a:latin typeface="Calibri" pitchFamily="34" charset="0"/>
                <a:ea typeface="Calibri" pitchFamily="34" charset="-122"/>
                <a:cs typeface="Calibri" pitchFamily="34" charset="-120"/>
              </a:rPr>
              <a:t>Engineering leads ROA at 0.12% alongside Semiconductors — these sectors convert assets most efficiently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txBody>
          <a:bodyPr/>
          <a:lstStyle/>
          <a:p>
            <a:endParaRPr lang="en-US"/>
          </a:p>
        </p:txBody>
      </p:sp>
      <p:sp>
        <p:nvSpPr>
          <p:cNvPr id="3" name="Text 1"/>
          <p:cNvSpPr/>
          <p:nvPr/>
        </p:nvSpPr>
        <p:spPr>
          <a:xfrm>
            <a:off x="457200" y="91440"/>
            <a:ext cx="6400800" cy="7315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GEOGRAPHIC ANALYSIS DASHBOARD</a:t>
            </a:r>
            <a:endParaRPr lang="en-US" sz="2400" dirty="0"/>
          </a:p>
        </p:txBody>
      </p:sp>
      <p:sp>
        <p:nvSpPr>
          <p:cNvPr id="4" name="Text 2"/>
          <p:cNvSpPr/>
          <p:nvPr/>
        </p:nvSpPr>
        <p:spPr>
          <a:xfrm>
            <a:off x="6858000" y="228600"/>
            <a:ext cx="2011680" cy="411480"/>
          </a:xfrm>
          <a:prstGeom prst="rect">
            <a:avLst/>
          </a:prstGeom>
          <a:noFill/>
          <a:ln/>
        </p:spPr>
        <p:txBody>
          <a:bodyPr wrap="square" lIns="0" tIns="0" rIns="0" bIns="0" rtlCol="0" anchor="ctr"/>
          <a:lstStyle/>
          <a:p>
            <a:pPr marL="0" indent="0" algn="r">
              <a:buNone/>
            </a:pPr>
            <a:r>
              <a:rPr lang="en-US" sz="1100" dirty="0">
                <a:solidFill>
                  <a:srgbClr val="90A4AE"/>
                </a:solidFill>
                <a:latin typeface="Calibri" pitchFamily="34" charset="0"/>
                <a:ea typeface="Calibri" pitchFamily="34" charset="-122"/>
                <a:cs typeface="Calibri" pitchFamily="34" charset="-120"/>
              </a:rPr>
              <a:t>Dashboard Page 3 of 4</a:t>
            </a:r>
            <a:endParaRPr lang="en-US" sz="1100" dirty="0"/>
          </a:p>
        </p:txBody>
      </p:sp>
      <p:sp>
        <p:nvSpPr>
          <p:cNvPr id="5" name="Shape 3"/>
          <p:cNvSpPr/>
          <p:nvPr/>
        </p:nvSpPr>
        <p:spPr>
          <a:xfrm>
            <a:off x="365759" y="987552"/>
            <a:ext cx="8412481" cy="3566156"/>
          </a:xfrm>
          <a:prstGeom prst="roundRect">
            <a:avLst>
              <a:gd name="adj" fmla="val 3429"/>
            </a:avLst>
          </a:prstGeom>
          <a:blipFill>
            <a:blip r:embed="rId3"/>
            <a:stretch>
              <a:fillRect/>
            </a:stretch>
          </a:blipFill>
          <a:ln/>
          <a:effectLst>
            <a:outerShdw blurRad="76200" dist="25400" dir="2700000" algn="bl" rotWithShape="0">
              <a:srgbClr val="000000">
                <a:alpha val="13000"/>
              </a:srgbClr>
            </a:outerShdw>
          </a:effectLst>
        </p:spPr>
        <p:txBody>
          <a:bodyPr/>
          <a:lstStyle/>
          <a:p>
            <a:endParaRPr lang="en-US"/>
          </a:p>
        </p:txBody>
      </p:sp>
      <p:sp>
        <p:nvSpPr>
          <p:cNvPr id="6" name="Text 4"/>
          <p:cNvSpPr/>
          <p:nvPr/>
        </p:nvSpPr>
        <p:spPr>
          <a:xfrm>
            <a:off x="365760" y="987552"/>
            <a:ext cx="8412480" cy="3200400"/>
          </a:xfrm>
          <a:prstGeom prst="rect">
            <a:avLst/>
          </a:prstGeom>
          <a:noFill/>
          <a:ln/>
        </p:spPr>
        <p:txBody>
          <a:bodyPr wrap="square" lIns="0" tIns="0" rIns="0" bIns="0" rtlCol="0" anchor="ctr"/>
          <a:lstStyle/>
          <a:p>
            <a:pPr marL="0" indent="0" algn="ctr">
              <a:buNone/>
            </a:pPr>
            <a:endParaRPr lang="en-US" sz="1500" dirty="0"/>
          </a:p>
        </p:txBody>
      </p:sp>
      <p:sp>
        <p:nvSpPr>
          <p:cNvPr id="7" name="Shape 5"/>
          <p:cNvSpPr/>
          <p:nvPr/>
        </p:nvSpPr>
        <p:spPr>
          <a:xfrm>
            <a:off x="365759" y="4634374"/>
            <a:ext cx="1883664" cy="484632"/>
          </a:xfrm>
          <a:prstGeom prst="roundRect">
            <a:avLst>
              <a:gd name="adj" fmla="val 12500"/>
            </a:avLst>
          </a:prstGeom>
          <a:solidFill>
            <a:srgbClr val="002060"/>
          </a:solidFill>
          <a:ln/>
        </p:spPr>
        <p:txBody>
          <a:bodyPr/>
          <a:lstStyle/>
          <a:p>
            <a:endParaRPr lang="en-US"/>
          </a:p>
        </p:txBody>
      </p:sp>
      <p:sp>
        <p:nvSpPr>
          <p:cNvPr id="8" name="Text 6"/>
          <p:cNvSpPr/>
          <p:nvPr/>
        </p:nvSpPr>
        <p:spPr>
          <a:xfrm>
            <a:off x="365760" y="4520070"/>
            <a:ext cx="1965960" cy="292608"/>
          </a:xfrm>
          <a:prstGeom prst="rect">
            <a:avLst/>
          </a:prstGeom>
          <a:noFill/>
          <a:ln/>
        </p:spPr>
        <p:txBody>
          <a:bodyPr wrap="square" lIns="0" tIns="0" rIns="0" bIns="0" rtlCol="0" anchor="b"/>
          <a:lstStyle/>
          <a:p>
            <a:pPr marL="0" indent="0" algn="ctr">
              <a:buNone/>
            </a:pPr>
            <a:r>
              <a:rPr lang="en-US" sz="1000" b="1" dirty="0">
                <a:solidFill>
                  <a:srgbClr val="FFFFFF"/>
                </a:solidFill>
                <a:latin typeface="Calibri" pitchFamily="34" charset="0"/>
                <a:ea typeface="Calibri" pitchFamily="34" charset="-122"/>
                <a:cs typeface="Calibri" pitchFamily="34" charset="-120"/>
              </a:rPr>
              <a:t>North America MV</a:t>
            </a:r>
            <a:endParaRPr lang="en-US" sz="1000" b="1" dirty="0"/>
          </a:p>
        </p:txBody>
      </p:sp>
      <p:sp>
        <p:nvSpPr>
          <p:cNvPr id="9" name="Text 7"/>
          <p:cNvSpPr/>
          <p:nvPr/>
        </p:nvSpPr>
        <p:spPr>
          <a:xfrm>
            <a:off x="365760" y="4859703"/>
            <a:ext cx="1965960" cy="347472"/>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$53K — Dominant</a:t>
            </a:r>
            <a:endParaRPr lang="en-US" sz="1200" dirty="0"/>
          </a:p>
        </p:txBody>
      </p:sp>
      <p:sp>
        <p:nvSpPr>
          <p:cNvPr id="10" name="Shape 8"/>
          <p:cNvSpPr/>
          <p:nvPr/>
        </p:nvSpPr>
        <p:spPr>
          <a:xfrm>
            <a:off x="2468880" y="4618038"/>
            <a:ext cx="1883664" cy="484632"/>
          </a:xfrm>
          <a:prstGeom prst="roundRect">
            <a:avLst>
              <a:gd name="adj" fmla="val 12500"/>
            </a:avLst>
          </a:prstGeom>
          <a:solidFill>
            <a:srgbClr val="002060"/>
          </a:solidFill>
          <a:ln/>
        </p:spPr>
        <p:txBody>
          <a:bodyPr/>
          <a:lstStyle/>
          <a:p>
            <a:endParaRPr lang="en-US"/>
          </a:p>
        </p:txBody>
      </p:sp>
      <p:sp>
        <p:nvSpPr>
          <p:cNvPr id="11" name="Text 9"/>
          <p:cNvSpPr/>
          <p:nvPr/>
        </p:nvSpPr>
        <p:spPr>
          <a:xfrm>
            <a:off x="2452552" y="4503742"/>
            <a:ext cx="1965960" cy="292608"/>
          </a:xfrm>
          <a:prstGeom prst="rect">
            <a:avLst/>
          </a:prstGeom>
          <a:noFill/>
          <a:ln/>
        </p:spPr>
        <p:txBody>
          <a:bodyPr wrap="square" lIns="0" tIns="0" rIns="0" bIns="0" rtlCol="0" anchor="b"/>
          <a:lstStyle/>
          <a:p>
            <a:pPr marL="0" indent="0" algn="ctr">
              <a:buNone/>
            </a:pPr>
            <a:r>
              <a:rPr lang="en-US" sz="1000" b="1" dirty="0">
                <a:solidFill>
                  <a:srgbClr val="FFFFFF"/>
                </a:solidFill>
                <a:latin typeface="Calibri" pitchFamily="34" charset="0"/>
                <a:ea typeface="Calibri" pitchFamily="34" charset="-122"/>
                <a:cs typeface="Calibri" pitchFamily="34" charset="-120"/>
              </a:rPr>
              <a:t>Asia Profit</a:t>
            </a:r>
            <a:endParaRPr lang="en-US" sz="1000" b="1" dirty="0"/>
          </a:p>
        </p:txBody>
      </p:sp>
      <p:sp>
        <p:nvSpPr>
          <p:cNvPr id="12" name="Text 10"/>
          <p:cNvSpPr/>
          <p:nvPr/>
        </p:nvSpPr>
        <p:spPr>
          <a:xfrm>
            <a:off x="2468880" y="4818880"/>
            <a:ext cx="1965960" cy="347472"/>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$1,377.25B</a:t>
            </a:r>
            <a:endParaRPr lang="en-US" sz="1200" dirty="0"/>
          </a:p>
        </p:txBody>
      </p:sp>
      <p:sp>
        <p:nvSpPr>
          <p:cNvPr id="13" name="Shape 11"/>
          <p:cNvSpPr/>
          <p:nvPr/>
        </p:nvSpPr>
        <p:spPr>
          <a:xfrm>
            <a:off x="4710788" y="4609873"/>
            <a:ext cx="1883664" cy="484632"/>
          </a:xfrm>
          <a:prstGeom prst="roundRect">
            <a:avLst>
              <a:gd name="adj" fmla="val 12500"/>
            </a:avLst>
          </a:prstGeom>
          <a:solidFill>
            <a:srgbClr val="002060"/>
          </a:solidFill>
          <a:ln/>
        </p:spPr>
        <p:txBody>
          <a:bodyPr/>
          <a:lstStyle/>
          <a:p>
            <a:endParaRPr lang="en-US"/>
          </a:p>
        </p:txBody>
      </p:sp>
      <p:sp>
        <p:nvSpPr>
          <p:cNvPr id="14" name="Text 12"/>
          <p:cNvSpPr/>
          <p:nvPr/>
        </p:nvSpPr>
        <p:spPr>
          <a:xfrm>
            <a:off x="4580164" y="4487415"/>
            <a:ext cx="1965960" cy="292608"/>
          </a:xfrm>
          <a:prstGeom prst="rect">
            <a:avLst/>
          </a:prstGeom>
          <a:noFill/>
          <a:ln/>
        </p:spPr>
        <p:txBody>
          <a:bodyPr wrap="square" lIns="0" tIns="0" rIns="0" bIns="0" rtlCol="0" anchor="b"/>
          <a:lstStyle/>
          <a:p>
            <a:pPr marL="0" indent="0" algn="ctr">
              <a:buNone/>
            </a:pPr>
            <a:r>
              <a:rPr lang="en-US" sz="1000" b="1" dirty="0">
                <a:solidFill>
                  <a:srgbClr val="FFFFFF"/>
                </a:solidFill>
                <a:latin typeface="Calibri" pitchFamily="34" charset="0"/>
                <a:ea typeface="Calibri" pitchFamily="34" charset="-122"/>
                <a:cs typeface="Calibri" pitchFamily="34" charset="-120"/>
              </a:rPr>
              <a:t>Middle East Inv. Score</a:t>
            </a:r>
            <a:endParaRPr lang="en-US" sz="1000" b="1" dirty="0"/>
          </a:p>
        </p:txBody>
      </p:sp>
      <p:sp>
        <p:nvSpPr>
          <p:cNvPr id="15" name="Text 13"/>
          <p:cNvSpPr/>
          <p:nvPr/>
        </p:nvSpPr>
        <p:spPr>
          <a:xfrm>
            <a:off x="4572000" y="4810716"/>
            <a:ext cx="1965960" cy="347472"/>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12.99 — Highest</a:t>
            </a:r>
            <a:endParaRPr lang="en-US" sz="1200" dirty="0"/>
          </a:p>
        </p:txBody>
      </p:sp>
      <p:sp>
        <p:nvSpPr>
          <p:cNvPr id="16" name="Shape 14"/>
          <p:cNvSpPr/>
          <p:nvPr/>
        </p:nvSpPr>
        <p:spPr>
          <a:xfrm>
            <a:off x="6938010" y="4617390"/>
            <a:ext cx="1883664" cy="484632"/>
          </a:xfrm>
          <a:prstGeom prst="roundRect">
            <a:avLst>
              <a:gd name="adj" fmla="val 12500"/>
            </a:avLst>
          </a:prstGeom>
          <a:solidFill>
            <a:srgbClr val="002060"/>
          </a:solidFill>
          <a:ln/>
        </p:spPr>
        <p:txBody>
          <a:bodyPr/>
          <a:lstStyle/>
          <a:p>
            <a:endParaRPr lang="en-US"/>
          </a:p>
        </p:txBody>
      </p:sp>
      <p:sp>
        <p:nvSpPr>
          <p:cNvPr id="17" name="Text 15"/>
          <p:cNvSpPr/>
          <p:nvPr/>
        </p:nvSpPr>
        <p:spPr>
          <a:xfrm>
            <a:off x="6846564" y="4487412"/>
            <a:ext cx="1965960" cy="292608"/>
          </a:xfrm>
          <a:prstGeom prst="rect">
            <a:avLst/>
          </a:prstGeom>
          <a:noFill/>
          <a:ln/>
        </p:spPr>
        <p:txBody>
          <a:bodyPr wrap="square" lIns="0" tIns="0" rIns="0" bIns="0" rtlCol="0" anchor="b"/>
          <a:lstStyle/>
          <a:p>
            <a:pPr marL="0" indent="0" algn="ctr">
              <a:buNone/>
            </a:pPr>
            <a:r>
              <a:rPr lang="en-US" sz="1000" b="1" dirty="0">
                <a:solidFill>
                  <a:srgbClr val="FFFFFF"/>
                </a:solidFill>
                <a:latin typeface="Calibri" pitchFamily="34" charset="0"/>
                <a:ea typeface="Calibri" pitchFamily="34" charset="-122"/>
                <a:cs typeface="Calibri" pitchFamily="34" charset="-120"/>
              </a:rPr>
              <a:t>Europe Profit</a:t>
            </a:r>
            <a:endParaRPr lang="en-US" sz="1000" b="1" dirty="0"/>
          </a:p>
        </p:txBody>
      </p:sp>
      <p:sp>
        <p:nvSpPr>
          <p:cNvPr id="18" name="Text 16"/>
          <p:cNvSpPr/>
          <p:nvPr/>
        </p:nvSpPr>
        <p:spPr>
          <a:xfrm>
            <a:off x="6890656" y="4828682"/>
            <a:ext cx="1965960" cy="347472"/>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$724.81B</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txBody>
          <a:bodyPr/>
          <a:lstStyle/>
          <a:p>
            <a:endParaRPr lang="en-US"/>
          </a:p>
        </p:txBody>
      </p:sp>
      <p:sp>
        <p:nvSpPr>
          <p:cNvPr id="3" name="Text 1"/>
          <p:cNvSpPr/>
          <p:nvPr/>
        </p:nvSpPr>
        <p:spPr>
          <a:xfrm>
            <a:off x="457200" y="91440"/>
            <a:ext cx="6400800" cy="7315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INVESTMENT &amp; VALUATION DASHBOARD</a:t>
            </a:r>
            <a:endParaRPr lang="en-US" sz="2400" dirty="0"/>
          </a:p>
        </p:txBody>
      </p:sp>
      <p:sp>
        <p:nvSpPr>
          <p:cNvPr id="4" name="Text 2"/>
          <p:cNvSpPr/>
          <p:nvPr/>
        </p:nvSpPr>
        <p:spPr>
          <a:xfrm>
            <a:off x="6858000" y="228600"/>
            <a:ext cx="2011680" cy="411480"/>
          </a:xfrm>
          <a:prstGeom prst="rect">
            <a:avLst/>
          </a:prstGeom>
          <a:noFill/>
          <a:ln/>
        </p:spPr>
        <p:txBody>
          <a:bodyPr wrap="square" lIns="0" tIns="0" rIns="0" bIns="0" rtlCol="0" anchor="ctr"/>
          <a:lstStyle/>
          <a:p>
            <a:pPr marL="0" indent="0" algn="r">
              <a:buNone/>
            </a:pPr>
            <a:r>
              <a:rPr lang="en-US" sz="1100" dirty="0">
                <a:solidFill>
                  <a:srgbClr val="90A4AE"/>
                </a:solidFill>
                <a:latin typeface="Calibri" pitchFamily="34" charset="0"/>
                <a:ea typeface="Calibri" pitchFamily="34" charset="-122"/>
                <a:cs typeface="Calibri" pitchFamily="34" charset="-120"/>
              </a:rPr>
              <a:t>Dashboard Page 4 of 4</a:t>
            </a:r>
            <a:endParaRPr lang="en-US" sz="1100" dirty="0"/>
          </a:p>
        </p:txBody>
      </p:sp>
      <p:sp>
        <p:nvSpPr>
          <p:cNvPr id="5" name="Shape 3"/>
          <p:cNvSpPr/>
          <p:nvPr/>
        </p:nvSpPr>
        <p:spPr>
          <a:xfrm>
            <a:off x="253093" y="987552"/>
            <a:ext cx="8525147" cy="3607626"/>
          </a:xfrm>
          <a:prstGeom prst="roundRect">
            <a:avLst>
              <a:gd name="adj" fmla="val 3429"/>
            </a:avLst>
          </a:prstGeom>
          <a:blipFill>
            <a:blip r:embed="rId3"/>
            <a:stretch>
              <a:fillRect/>
            </a:stretch>
          </a:blipFill>
          <a:ln>
            <a:solidFill>
              <a:schemeClr val="accent1">
                <a:lumMod val="20000"/>
                <a:lumOff val="80000"/>
              </a:schemeClr>
            </a:solidFill>
          </a:ln>
          <a:effectLst>
            <a:outerShdw blurRad="76200" dist="25400" dir="2700000" algn="bl" rotWithShape="0">
              <a:srgbClr val="000000">
                <a:alpha val="13000"/>
              </a:srgbClr>
            </a:outerShdw>
          </a:effectLst>
        </p:spPr>
        <p:txBody>
          <a:bodyPr/>
          <a:lstStyle/>
          <a:p>
            <a:endParaRPr lang="en-US"/>
          </a:p>
        </p:txBody>
      </p:sp>
      <p:sp>
        <p:nvSpPr>
          <p:cNvPr id="6" name="Text 4"/>
          <p:cNvSpPr/>
          <p:nvPr/>
        </p:nvSpPr>
        <p:spPr>
          <a:xfrm>
            <a:off x="365760" y="987552"/>
            <a:ext cx="8412480" cy="3583130"/>
          </a:xfrm>
          <a:prstGeom prst="rect">
            <a:avLst/>
          </a:prstGeom>
          <a:noFill/>
          <a:ln/>
        </p:spPr>
        <p:txBody>
          <a:bodyPr wrap="square" lIns="0" tIns="0" rIns="0" bIns="0" rtlCol="0" anchor="ctr"/>
          <a:lstStyle/>
          <a:p>
            <a:pPr marL="0" indent="0" algn="ctr">
              <a:buNone/>
            </a:pPr>
            <a:endParaRPr lang="en-US" sz="1500" dirty="0"/>
          </a:p>
        </p:txBody>
      </p:sp>
      <p:sp>
        <p:nvSpPr>
          <p:cNvPr id="7" name="Shape 5"/>
          <p:cNvSpPr/>
          <p:nvPr/>
        </p:nvSpPr>
        <p:spPr>
          <a:xfrm>
            <a:off x="284448" y="4632416"/>
            <a:ext cx="1883664" cy="484632"/>
          </a:xfrm>
          <a:prstGeom prst="roundRect">
            <a:avLst>
              <a:gd name="adj" fmla="val 12500"/>
            </a:avLst>
          </a:prstGeom>
          <a:solidFill>
            <a:srgbClr val="002060"/>
          </a:solidFill>
          <a:ln/>
        </p:spPr>
        <p:txBody>
          <a:bodyPr/>
          <a:lstStyle/>
          <a:p>
            <a:endParaRPr lang="en-US"/>
          </a:p>
        </p:txBody>
      </p:sp>
      <p:sp>
        <p:nvSpPr>
          <p:cNvPr id="8" name="Text 6"/>
          <p:cNvSpPr/>
          <p:nvPr/>
        </p:nvSpPr>
        <p:spPr>
          <a:xfrm>
            <a:off x="259628" y="4544564"/>
            <a:ext cx="1965960" cy="292608"/>
          </a:xfrm>
          <a:prstGeom prst="rect">
            <a:avLst/>
          </a:prstGeom>
          <a:noFill/>
          <a:ln/>
        </p:spPr>
        <p:txBody>
          <a:bodyPr wrap="square" lIns="0" tIns="0" rIns="0" bIns="0" rtlCol="0" anchor="b"/>
          <a:lstStyle/>
          <a:p>
            <a:pPr marL="0" indent="0" algn="ctr">
              <a:buNone/>
            </a:pPr>
            <a:r>
              <a:rPr lang="en-US" sz="1000" b="1" dirty="0">
                <a:solidFill>
                  <a:srgbClr val="FFFFFF"/>
                </a:solidFill>
                <a:latin typeface="Calibri" pitchFamily="34" charset="0"/>
                <a:ea typeface="Calibri" pitchFamily="34" charset="-122"/>
                <a:cs typeface="Calibri" pitchFamily="34" charset="-120"/>
              </a:rPr>
              <a:t>Top Score</a:t>
            </a:r>
            <a:endParaRPr lang="en-US" sz="1000" b="1" dirty="0"/>
          </a:p>
        </p:txBody>
      </p:sp>
      <p:sp>
        <p:nvSpPr>
          <p:cNvPr id="9" name="Text 7"/>
          <p:cNvSpPr/>
          <p:nvPr/>
        </p:nvSpPr>
        <p:spPr>
          <a:xfrm>
            <a:off x="243300" y="4859700"/>
            <a:ext cx="1965960" cy="347472"/>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Apple  18.96</a:t>
            </a:r>
            <a:endParaRPr lang="en-US" sz="1200" dirty="0"/>
          </a:p>
        </p:txBody>
      </p:sp>
      <p:sp>
        <p:nvSpPr>
          <p:cNvPr id="10" name="Shape 8"/>
          <p:cNvSpPr/>
          <p:nvPr/>
        </p:nvSpPr>
        <p:spPr>
          <a:xfrm>
            <a:off x="2468880" y="4634368"/>
            <a:ext cx="1883664" cy="484632"/>
          </a:xfrm>
          <a:prstGeom prst="roundRect">
            <a:avLst>
              <a:gd name="adj" fmla="val 12500"/>
            </a:avLst>
          </a:prstGeom>
          <a:solidFill>
            <a:srgbClr val="002060"/>
          </a:solidFill>
          <a:ln/>
        </p:spPr>
        <p:txBody>
          <a:bodyPr/>
          <a:lstStyle/>
          <a:p>
            <a:endParaRPr lang="en-US"/>
          </a:p>
        </p:txBody>
      </p:sp>
      <p:sp>
        <p:nvSpPr>
          <p:cNvPr id="11" name="Text 9"/>
          <p:cNvSpPr/>
          <p:nvPr/>
        </p:nvSpPr>
        <p:spPr>
          <a:xfrm>
            <a:off x="2468880" y="4511910"/>
            <a:ext cx="1965960" cy="292608"/>
          </a:xfrm>
          <a:prstGeom prst="rect">
            <a:avLst/>
          </a:prstGeom>
          <a:noFill/>
          <a:ln/>
        </p:spPr>
        <p:txBody>
          <a:bodyPr wrap="square" lIns="0" tIns="0" rIns="0" bIns="0" rtlCol="0" anchor="b"/>
          <a:lstStyle/>
          <a:p>
            <a:pPr marL="0" indent="0" algn="ctr">
              <a:buNone/>
            </a:pPr>
            <a:r>
              <a:rPr lang="en-US" sz="1000" b="1" dirty="0">
                <a:solidFill>
                  <a:srgbClr val="FFFFFF"/>
                </a:solidFill>
                <a:latin typeface="Calibri" pitchFamily="34" charset="0"/>
                <a:ea typeface="Calibri" pitchFamily="34" charset="-122"/>
                <a:cs typeface="Calibri" pitchFamily="34" charset="-120"/>
              </a:rPr>
              <a:t>2nd Score</a:t>
            </a:r>
            <a:endParaRPr lang="en-US" sz="1000" b="1" dirty="0"/>
          </a:p>
        </p:txBody>
      </p:sp>
      <p:sp>
        <p:nvSpPr>
          <p:cNvPr id="12" name="Text 10"/>
          <p:cNvSpPr/>
          <p:nvPr/>
        </p:nvSpPr>
        <p:spPr>
          <a:xfrm>
            <a:off x="2468880" y="4835214"/>
            <a:ext cx="1965960" cy="347472"/>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Alphabet  18.69</a:t>
            </a:r>
            <a:endParaRPr lang="en-US" sz="1200" dirty="0"/>
          </a:p>
        </p:txBody>
      </p:sp>
      <p:sp>
        <p:nvSpPr>
          <p:cNvPr id="13" name="Shape 11"/>
          <p:cNvSpPr/>
          <p:nvPr/>
        </p:nvSpPr>
        <p:spPr>
          <a:xfrm>
            <a:off x="4629148" y="4634370"/>
            <a:ext cx="1883664" cy="484632"/>
          </a:xfrm>
          <a:prstGeom prst="roundRect">
            <a:avLst>
              <a:gd name="adj" fmla="val 12500"/>
            </a:avLst>
          </a:prstGeom>
          <a:solidFill>
            <a:srgbClr val="002060"/>
          </a:solidFill>
          <a:ln/>
        </p:spPr>
        <p:txBody>
          <a:bodyPr/>
          <a:lstStyle/>
          <a:p>
            <a:endParaRPr lang="en-US"/>
          </a:p>
        </p:txBody>
      </p:sp>
      <p:sp>
        <p:nvSpPr>
          <p:cNvPr id="14" name="Text 12"/>
          <p:cNvSpPr/>
          <p:nvPr/>
        </p:nvSpPr>
        <p:spPr>
          <a:xfrm>
            <a:off x="4572000" y="4495586"/>
            <a:ext cx="1965960" cy="292608"/>
          </a:xfrm>
          <a:prstGeom prst="rect">
            <a:avLst/>
          </a:prstGeom>
          <a:noFill/>
          <a:ln/>
        </p:spPr>
        <p:txBody>
          <a:bodyPr wrap="square" lIns="0" tIns="0" rIns="0" bIns="0" rtlCol="0" anchor="b"/>
          <a:lstStyle/>
          <a:p>
            <a:pPr marL="0" indent="0" algn="ctr">
              <a:buNone/>
            </a:pPr>
            <a:r>
              <a:rPr lang="en-US" sz="1000" b="1" dirty="0">
                <a:solidFill>
                  <a:srgbClr val="FFFFFF"/>
                </a:solidFill>
                <a:latin typeface="Calibri" pitchFamily="34" charset="0"/>
                <a:ea typeface="Calibri" pitchFamily="34" charset="-122"/>
                <a:cs typeface="Calibri" pitchFamily="34" charset="-120"/>
              </a:rPr>
              <a:t>Tech MV/Asset</a:t>
            </a:r>
            <a:endParaRPr lang="en-US" sz="1000" b="1" dirty="0"/>
          </a:p>
        </p:txBody>
      </p:sp>
      <p:sp>
        <p:nvSpPr>
          <p:cNvPr id="15" name="Text 13"/>
          <p:cNvSpPr/>
          <p:nvPr/>
        </p:nvSpPr>
        <p:spPr>
          <a:xfrm>
            <a:off x="4572000" y="4810720"/>
            <a:ext cx="1965960" cy="347472"/>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Highest Ratio</a:t>
            </a:r>
            <a:endParaRPr lang="en-US" sz="1200" dirty="0"/>
          </a:p>
        </p:txBody>
      </p:sp>
      <p:sp>
        <p:nvSpPr>
          <p:cNvPr id="16" name="Shape 14"/>
          <p:cNvSpPr/>
          <p:nvPr/>
        </p:nvSpPr>
        <p:spPr>
          <a:xfrm>
            <a:off x="6895548" y="4626205"/>
            <a:ext cx="1883664" cy="484632"/>
          </a:xfrm>
          <a:prstGeom prst="roundRect">
            <a:avLst>
              <a:gd name="adj" fmla="val 12500"/>
            </a:avLst>
          </a:prstGeom>
          <a:solidFill>
            <a:srgbClr val="002060"/>
          </a:solidFill>
          <a:ln/>
        </p:spPr>
        <p:txBody>
          <a:bodyPr/>
          <a:lstStyle/>
          <a:p>
            <a:endParaRPr lang="en-US"/>
          </a:p>
        </p:txBody>
      </p:sp>
      <p:sp>
        <p:nvSpPr>
          <p:cNvPr id="17" name="Text 15"/>
          <p:cNvSpPr/>
          <p:nvPr/>
        </p:nvSpPr>
        <p:spPr>
          <a:xfrm>
            <a:off x="6822072" y="4479252"/>
            <a:ext cx="1965960" cy="292608"/>
          </a:xfrm>
          <a:prstGeom prst="rect">
            <a:avLst/>
          </a:prstGeom>
          <a:noFill/>
          <a:ln/>
        </p:spPr>
        <p:txBody>
          <a:bodyPr wrap="square" lIns="0" tIns="0" rIns="0" bIns="0" rtlCol="0" anchor="b"/>
          <a:lstStyle/>
          <a:p>
            <a:pPr marL="0" indent="0" algn="ctr">
              <a:buNone/>
            </a:pPr>
            <a:r>
              <a:rPr lang="en-US" sz="1000" b="1" dirty="0">
                <a:solidFill>
                  <a:srgbClr val="FFFFFF"/>
                </a:solidFill>
                <a:latin typeface="Calibri" pitchFamily="34" charset="0"/>
                <a:ea typeface="Calibri" pitchFamily="34" charset="-122"/>
                <a:cs typeface="Calibri" pitchFamily="34" charset="-120"/>
              </a:rPr>
              <a:t>Investment Candidates</a:t>
            </a:r>
            <a:endParaRPr lang="en-US" sz="1000" b="1" dirty="0"/>
          </a:p>
        </p:txBody>
      </p:sp>
      <p:sp>
        <p:nvSpPr>
          <p:cNvPr id="18" name="Text 16"/>
          <p:cNvSpPr/>
          <p:nvPr/>
        </p:nvSpPr>
        <p:spPr>
          <a:xfrm>
            <a:off x="6846564" y="4786231"/>
            <a:ext cx="1965960" cy="347472"/>
          </a:xfrm>
          <a:prstGeom prst="rect">
            <a:avLst/>
          </a:prstGeom>
          <a:noFill/>
          <a:ln/>
        </p:spPr>
        <p:txBody>
          <a:bodyPr wrap="square" lIns="0" tIns="0" rIns="0" bIns="0" rtlCol="0" anchor="t"/>
          <a:lstStyle/>
          <a:p>
            <a:pPr marL="0" indent="0" algn="ctr">
              <a:buNone/>
            </a:pPr>
            <a:r>
              <a:rPr lang="en-US" sz="1200" b="1" dirty="0">
                <a:solidFill>
                  <a:srgbClr val="FFFFFF"/>
                </a:solidFill>
                <a:latin typeface="Calibri" pitchFamily="34" charset="0"/>
                <a:ea typeface="Calibri" pitchFamily="34" charset="-122"/>
                <a:cs typeface="Calibri" pitchFamily="34" charset="-120"/>
              </a:rPr>
              <a:t>Multiple Identified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KEY INSIGHTS — What the Data Tells Us</a:t>
            </a:r>
            <a:endParaRPr lang="en-US" sz="2400" dirty="0"/>
          </a:p>
        </p:txBody>
      </p:sp>
      <p:sp>
        <p:nvSpPr>
          <p:cNvPr id="4" name="Shape 2"/>
          <p:cNvSpPr/>
          <p:nvPr/>
        </p:nvSpPr>
        <p:spPr>
          <a:xfrm>
            <a:off x="320040" y="1005840"/>
            <a:ext cx="4114800" cy="1828800"/>
          </a:xfrm>
          <a:prstGeom prst="roundRect">
            <a:avLst>
              <a:gd name="adj" fmla="val 5000"/>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5" name="Shape 3"/>
          <p:cNvSpPr/>
          <p:nvPr/>
        </p:nvSpPr>
        <p:spPr>
          <a:xfrm>
            <a:off x="320040" y="1005840"/>
            <a:ext cx="4114800" cy="438912"/>
          </a:xfrm>
          <a:prstGeom prst="roundRect">
            <a:avLst>
              <a:gd name="adj" fmla="val 20833"/>
            </a:avLst>
          </a:prstGeom>
          <a:solidFill>
            <a:srgbClr val="002060"/>
          </a:solidFill>
          <a:ln/>
        </p:spPr>
        <p:txBody>
          <a:bodyPr/>
          <a:lstStyle/>
          <a:p>
            <a:endParaRPr lang="en-US"/>
          </a:p>
        </p:txBody>
      </p:sp>
      <p:sp>
        <p:nvSpPr>
          <p:cNvPr id="6" name="Text 4"/>
          <p:cNvSpPr/>
          <p:nvPr/>
        </p:nvSpPr>
        <p:spPr>
          <a:xfrm>
            <a:off x="457200" y="1005840"/>
            <a:ext cx="3840480" cy="43891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Company Performance</a:t>
            </a:r>
            <a:endParaRPr lang="en-US" sz="1300" dirty="0"/>
          </a:p>
        </p:txBody>
      </p:sp>
      <p:sp>
        <p:nvSpPr>
          <p:cNvPr id="7" name="Text 5"/>
          <p:cNvSpPr/>
          <p:nvPr/>
        </p:nvSpPr>
        <p:spPr>
          <a:xfrm>
            <a:off x="457200" y="1508760"/>
            <a:ext cx="3840480" cy="384048"/>
          </a:xfrm>
          <a:prstGeom prst="rect">
            <a:avLst/>
          </a:prstGeom>
          <a:noFill/>
          <a:ln/>
        </p:spPr>
        <p:txBody>
          <a:bodyPr wrap="square" lIns="0" tIns="0" rIns="0" bIns="0"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 </a:t>
            </a:r>
            <a:r>
              <a:rPr lang="en-US" sz="1100" dirty="0">
                <a:solidFill>
                  <a:srgbClr val="1B2A4A"/>
                </a:solidFill>
                <a:latin typeface="Calibri" pitchFamily="34" charset="0"/>
                <a:ea typeface="Calibri" pitchFamily="34" charset="-122"/>
                <a:cs typeface="Calibri" pitchFamily="34" charset="-120"/>
              </a:rPr>
              <a:t>Walmart leads sales at $680.99B but retains only 2.86% margin</a:t>
            </a:r>
            <a:endParaRPr lang="en-US" sz="1100" dirty="0"/>
          </a:p>
        </p:txBody>
      </p:sp>
      <p:sp>
        <p:nvSpPr>
          <p:cNvPr id="8" name="Text 6"/>
          <p:cNvSpPr/>
          <p:nvPr/>
        </p:nvSpPr>
        <p:spPr>
          <a:xfrm>
            <a:off x="457200" y="1920240"/>
            <a:ext cx="3840480" cy="384048"/>
          </a:xfrm>
          <a:prstGeom prst="rect">
            <a:avLst/>
          </a:prstGeom>
          <a:noFill/>
          <a:ln/>
        </p:spPr>
        <p:txBody>
          <a:bodyPr wrap="square" lIns="0" tIns="0" rIns="0" bIns="0"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 </a:t>
            </a:r>
            <a:r>
              <a:rPr lang="en-US" sz="1100" dirty="0">
                <a:solidFill>
                  <a:srgbClr val="1B2A4A"/>
                </a:solidFill>
                <a:latin typeface="Calibri" pitchFamily="34" charset="0"/>
                <a:ea typeface="Calibri" pitchFamily="34" charset="-122"/>
                <a:cs typeface="Calibri" pitchFamily="34" charset="-120"/>
              </a:rPr>
              <a:t>Alphabet leads profit at $111B — tech is the efficiency champion</a:t>
            </a:r>
            <a:endParaRPr lang="en-US" sz="1100" dirty="0"/>
          </a:p>
        </p:txBody>
      </p:sp>
      <p:sp>
        <p:nvSpPr>
          <p:cNvPr id="9" name="Text 7"/>
          <p:cNvSpPr/>
          <p:nvPr/>
        </p:nvSpPr>
        <p:spPr>
          <a:xfrm>
            <a:off x="457200" y="2331720"/>
            <a:ext cx="3840480" cy="384048"/>
          </a:xfrm>
          <a:prstGeom prst="rect">
            <a:avLst/>
          </a:prstGeom>
          <a:noFill/>
          <a:ln/>
        </p:spPr>
        <p:txBody>
          <a:bodyPr wrap="square" lIns="0" tIns="0" rIns="0" bIns="0"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 </a:t>
            </a:r>
            <a:r>
              <a:rPr lang="en-US" sz="1100" dirty="0">
                <a:solidFill>
                  <a:srgbClr val="1B2A4A"/>
                </a:solidFill>
                <a:latin typeface="Calibri" pitchFamily="34" charset="0"/>
                <a:ea typeface="Calibri" pitchFamily="34" charset="-122"/>
                <a:cs typeface="Calibri" pitchFamily="34" charset="-120"/>
              </a:rPr>
              <a:t>Rank does not reliably predict profit performance</a:t>
            </a:r>
            <a:endParaRPr lang="en-US" sz="1100" dirty="0"/>
          </a:p>
        </p:txBody>
      </p:sp>
      <p:sp>
        <p:nvSpPr>
          <p:cNvPr id="10" name="Shape 8"/>
          <p:cNvSpPr/>
          <p:nvPr/>
        </p:nvSpPr>
        <p:spPr>
          <a:xfrm>
            <a:off x="4709160" y="1005840"/>
            <a:ext cx="4114800" cy="1828800"/>
          </a:xfrm>
          <a:prstGeom prst="roundRect">
            <a:avLst>
              <a:gd name="adj" fmla="val 5000"/>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11" name="Shape 9"/>
          <p:cNvSpPr/>
          <p:nvPr/>
        </p:nvSpPr>
        <p:spPr>
          <a:xfrm>
            <a:off x="4709160" y="1005840"/>
            <a:ext cx="4114800" cy="438912"/>
          </a:xfrm>
          <a:prstGeom prst="roundRect">
            <a:avLst>
              <a:gd name="adj" fmla="val 20833"/>
            </a:avLst>
          </a:prstGeom>
          <a:solidFill>
            <a:srgbClr val="002060"/>
          </a:solidFill>
          <a:ln/>
        </p:spPr>
        <p:txBody>
          <a:bodyPr/>
          <a:lstStyle/>
          <a:p>
            <a:endParaRPr lang="en-US"/>
          </a:p>
        </p:txBody>
      </p:sp>
      <p:sp>
        <p:nvSpPr>
          <p:cNvPr id="12" name="Text 10"/>
          <p:cNvSpPr/>
          <p:nvPr/>
        </p:nvSpPr>
        <p:spPr>
          <a:xfrm>
            <a:off x="4846320" y="1005840"/>
            <a:ext cx="3840480" cy="43891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Industry Analysis</a:t>
            </a:r>
            <a:endParaRPr lang="en-US" sz="1300" dirty="0"/>
          </a:p>
        </p:txBody>
      </p:sp>
      <p:sp>
        <p:nvSpPr>
          <p:cNvPr id="13" name="Text 11"/>
          <p:cNvSpPr/>
          <p:nvPr/>
        </p:nvSpPr>
        <p:spPr>
          <a:xfrm>
            <a:off x="4846320" y="1508760"/>
            <a:ext cx="3840480" cy="384048"/>
          </a:xfrm>
          <a:prstGeom prst="rect">
            <a:avLst/>
          </a:prstGeom>
          <a:noFill/>
          <a:ln/>
        </p:spPr>
        <p:txBody>
          <a:bodyPr wrap="square" lIns="0" tIns="0" rIns="0" bIns="0"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 </a:t>
            </a:r>
            <a:r>
              <a:rPr lang="en-US" sz="1100" dirty="0">
                <a:solidFill>
                  <a:srgbClr val="1B2A4A"/>
                </a:solidFill>
                <a:latin typeface="Calibri" pitchFamily="34" charset="0"/>
                <a:ea typeface="Calibri" pitchFamily="34" charset="-122"/>
                <a:cs typeface="Calibri" pitchFamily="34" charset="-120"/>
              </a:rPr>
              <a:t>Oil &amp; Gas leads total sales at $5,231.75B</a:t>
            </a:r>
            <a:endParaRPr lang="en-US" sz="1100" dirty="0"/>
          </a:p>
        </p:txBody>
      </p:sp>
      <p:sp>
        <p:nvSpPr>
          <p:cNvPr id="14" name="Text 12"/>
          <p:cNvSpPr/>
          <p:nvPr/>
        </p:nvSpPr>
        <p:spPr>
          <a:xfrm>
            <a:off x="4846320" y="1920240"/>
            <a:ext cx="3840480" cy="384048"/>
          </a:xfrm>
          <a:prstGeom prst="rect">
            <a:avLst/>
          </a:prstGeom>
          <a:noFill/>
          <a:ln/>
        </p:spPr>
        <p:txBody>
          <a:bodyPr wrap="square" lIns="0" tIns="0" rIns="0" bIns="0"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 </a:t>
            </a:r>
            <a:r>
              <a:rPr lang="en-US" sz="1100" dirty="0">
                <a:solidFill>
                  <a:srgbClr val="1B2A4A"/>
                </a:solidFill>
                <a:latin typeface="Calibri" pitchFamily="34" charset="0"/>
                <a:ea typeface="Calibri" pitchFamily="34" charset="-122"/>
                <a:cs typeface="Calibri" pitchFamily="34" charset="-120"/>
              </a:rPr>
              <a:t>Diversified Financials most efficient at 43.1% margin</a:t>
            </a:r>
            <a:endParaRPr lang="en-US" sz="1100" dirty="0"/>
          </a:p>
        </p:txBody>
      </p:sp>
      <p:sp>
        <p:nvSpPr>
          <p:cNvPr id="15" name="Text 13"/>
          <p:cNvSpPr/>
          <p:nvPr/>
        </p:nvSpPr>
        <p:spPr>
          <a:xfrm>
            <a:off x="4846320" y="2331720"/>
            <a:ext cx="3840480" cy="384048"/>
          </a:xfrm>
          <a:prstGeom prst="rect">
            <a:avLst/>
          </a:prstGeom>
          <a:noFill/>
          <a:ln/>
        </p:spPr>
        <p:txBody>
          <a:bodyPr wrap="square" lIns="0" tIns="0" rIns="0" bIns="0"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 </a:t>
            </a:r>
            <a:r>
              <a:rPr lang="en-US" sz="1100" dirty="0">
                <a:solidFill>
                  <a:srgbClr val="1B2A4A"/>
                </a:solidFill>
                <a:latin typeface="Calibri" pitchFamily="34" charset="0"/>
                <a:ea typeface="Calibri" pitchFamily="34" charset="-122"/>
                <a:cs typeface="Calibri" pitchFamily="34" charset="-120"/>
              </a:rPr>
              <a:t>IT Software leads market value — investors bet on tech</a:t>
            </a:r>
            <a:endParaRPr lang="en-US" sz="1100" dirty="0"/>
          </a:p>
        </p:txBody>
      </p:sp>
      <p:sp>
        <p:nvSpPr>
          <p:cNvPr id="16" name="Shape 14"/>
          <p:cNvSpPr/>
          <p:nvPr/>
        </p:nvSpPr>
        <p:spPr>
          <a:xfrm>
            <a:off x="320040" y="3063240"/>
            <a:ext cx="4114800" cy="1828800"/>
          </a:xfrm>
          <a:prstGeom prst="roundRect">
            <a:avLst>
              <a:gd name="adj" fmla="val 5000"/>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17" name="Shape 15"/>
          <p:cNvSpPr/>
          <p:nvPr/>
        </p:nvSpPr>
        <p:spPr>
          <a:xfrm>
            <a:off x="320040" y="3063240"/>
            <a:ext cx="4114800" cy="438912"/>
          </a:xfrm>
          <a:prstGeom prst="roundRect">
            <a:avLst>
              <a:gd name="adj" fmla="val 20833"/>
            </a:avLst>
          </a:prstGeom>
          <a:solidFill>
            <a:srgbClr val="002060"/>
          </a:solidFill>
          <a:ln/>
        </p:spPr>
        <p:txBody>
          <a:bodyPr/>
          <a:lstStyle/>
          <a:p>
            <a:endParaRPr lang="en-US"/>
          </a:p>
        </p:txBody>
      </p:sp>
      <p:sp>
        <p:nvSpPr>
          <p:cNvPr id="18" name="Text 16"/>
          <p:cNvSpPr/>
          <p:nvPr/>
        </p:nvSpPr>
        <p:spPr>
          <a:xfrm>
            <a:off x="457200" y="3063240"/>
            <a:ext cx="3840480" cy="43891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Geographic Analysis</a:t>
            </a:r>
            <a:endParaRPr lang="en-US" sz="1300" dirty="0"/>
          </a:p>
        </p:txBody>
      </p:sp>
      <p:sp>
        <p:nvSpPr>
          <p:cNvPr id="19" name="Text 17"/>
          <p:cNvSpPr/>
          <p:nvPr/>
        </p:nvSpPr>
        <p:spPr>
          <a:xfrm>
            <a:off x="457200" y="3566160"/>
            <a:ext cx="3840480" cy="384048"/>
          </a:xfrm>
          <a:prstGeom prst="rect">
            <a:avLst/>
          </a:prstGeom>
          <a:noFill/>
          <a:ln/>
        </p:spPr>
        <p:txBody>
          <a:bodyPr wrap="square" lIns="0" tIns="0" rIns="0" bIns="0" rtlCol="0" anchor="ctr"/>
          <a:lstStyle/>
          <a:p>
            <a:pPr marL="0" indent="0">
              <a:buNone/>
            </a:pPr>
            <a:r>
              <a:rPr lang="en-US" sz="1100" b="1" dirty="0">
                <a:solidFill>
                  <a:srgbClr val="F9A825"/>
                </a:solidFill>
                <a:latin typeface="Calibri" pitchFamily="34" charset="0"/>
                <a:ea typeface="Calibri" pitchFamily="34" charset="-122"/>
                <a:cs typeface="Calibri" pitchFamily="34" charset="-120"/>
              </a:rPr>
              <a:t>• </a:t>
            </a:r>
            <a:r>
              <a:rPr lang="en-US" sz="1100" dirty="0">
                <a:solidFill>
                  <a:srgbClr val="1B2A4A"/>
                </a:solidFill>
                <a:latin typeface="Calibri" pitchFamily="34" charset="0"/>
                <a:ea typeface="Calibri" pitchFamily="34" charset="-122"/>
                <a:cs typeface="Calibri" pitchFamily="34" charset="-120"/>
              </a:rPr>
              <a:t>North America dominates MV at $53K</a:t>
            </a:r>
            <a:endParaRPr lang="en-US" sz="1100" dirty="0"/>
          </a:p>
        </p:txBody>
      </p:sp>
      <p:sp>
        <p:nvSpPr>
          <p:cNvPr id="20" name="Text 18"/>
          <p:cNvSpPr/>
          <p:nvPr/>
        </p:nvSpPr>
        <p:spPr>
          <a:xfrm>
            <a:off x="457200" y="3977640"/>
            <a:ext cx="3840480" cy="384048"/>
          </a:xfrm>
          <a:prstGeom prst="rect">
            <a:avLst/>
          </a:prstGeom>
          <a:noFill/>
          <a:ln/>
        </p:spPr>
        <p:txBody>
          <a:bodyPr wrap="square" lIns="0" tIns="0" rIns="0" bIns="0" rtlCol="0" anchor="ctr"/>
          <a:lstStyle/>
          <a:p>
            <a:pPr marL="0" indent="0">
              <a:buNone/>
            </a:pPr>
            <a:r>
              <a:rPr lang="en-US" sz="1100" b="1" dirty="0">
                <a:solidFill>
                  <a:srgbClr val="F9A825"/>
                </a:solidFill>
                <a:latin typeface="Calibri" pitchFamily="34" charset="0"/>
                <a:ea typeface="Calibri" pitchFamily="34" charset="-122"/>
                <a:cs typeface="Calibri" pitchFamily="34" charset="-120"/>
              </a:rPr>
              <a:t>• </a:t>
            </a:r>
            <a:r>
              <a:rPr lang="en-US" sz="1100" dirty="0">
                <a:solidFill>
                  <a:srgbClr val="1B2A4A"/>
                </a:solidFill>
                <a:latin typeface="Calibri" pitchFamily="34" charset="0"/>
                <a:ea typeface="Calibri" pitchFamily="34" charset="-122"/>
                <a:cs typeface="Calibri" pitchFamily="34" charset="-120"/>
              </a:rPr>
              <a:t>Middle East has highest investment score at 12.99</a:t>
            </a:r>
            <a:endParaRPr lang="en-US" sz="1100" dirty="0"/>
          </a:p>
        </p:txBody>
      </p:sp>
      <p:sp>
        <p:nvSpPr>
          <p:cNvPr id="21" name="Text 19"/>
          <p:cNvSpPr/>
          <p:nvPr/>
        </p:nvSpPr>
        <p:spPr>
          <a:xfrm>
            <a:off x="457200" y="4389120"/>
            <a:ext cx="3840480" cy="384048"/>
          </a:xfrm>
          <a:prstGeom prst="rect">
            <a:avLst/>
          </a:prstGeom>
          <a:noFill/>
          <a:ln/>
        </p:spPr>
        <p:txBody>
          <a:bodyPr wrap="square" lIns="0" tIns="0" rIns="0" bIns="0" rtlCol="0" anchor="ctr"/>
          <a:lstStyle/>
          <a:p>
            <a:pPr marL="0" indent="0">
              <a:buNone/>
            </a:pPr>
            <a:r>
              <a:rPr lang="en-US" sz="1100" b="1" dirty="0">
                <a:solidFill>
                  <a:srgbClr val="F9A825"/>
                </a:solidFill>
                <a:latin typeface="Calibri" pitchFamily="34" charset="0"/>
                <a:ea typeface="Calibri" pitchFamily="34" charset="-122"/>
                <a:cs typeface="Calibri" pitchFamily="34" charset="-120"/>
              </a:rPr>
              <a:t>• </a:t>
            </a:r>
            <a:r>
              <a:rPr lang="en-US" sz="1100" dirty="0">
                <a:solidFill>
                  <a:srgbClr val="1B2A4A"/>
                </a:solidFill>
                <a:latin typeface="Calibri" pitchFamily="34" charset="0"/>
                <a:ea typeface="Calibri" pitchFamily="34" charset="-122"/>
                <a:cs typeface="Calibri" pitchFamily="34" charset="-120"/>
              </a:rPr>
              <a:t>Asia ranks lowest on investment quality despite high profit</a:t>
            </a:r>
            <a:endParaRPr lang="en-US" sz="1100" dirty="0"/>
          </a:p>
        </p:txBody>
      </p:sp>
      <p:sp>
        <p:nvSpPr>
          <p:cNvPr id="22" name="Shape 20"/>
          <p:cNvSpPr/>
          <p:nvPr/>
        </p:nvSpPr>
        <p:spPr>
          <a:xfrm>
            <a:off x="4709160" y="3063240"/>
            <a:ext cx="4114800" cy="1828800"/>
          </a:xfrm>
          <a:prstGeom prst="roundRect">
            <a:avLst>
              <a:gd name="adj" fmla="val 5000"/>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23" name="Shape 21"/>
          <p:cNvSpPr/>
          <p:nvPr/>
        </p:nvSpPr>
        <p:spPr>
          <a:xfrm>
            <a:off x="4709160" y="3063240"/>
            <a:ext cx="4114800" cy="438912"/>
          </a:xfrm>
          <a:prstGeom prst="roundRect">
            <a:avLst>
              <a:gd name="adj" fmla="val 20833"/>
            </a:avLst>
          </a:prstGeom>
          <a:solidFill>
            <a:srgbClr val="002060"/>
          </a:solidFill>
          <a:ln/>
        </p:spPr>
        <p:txBody>
          <a:bodyPr/>
          <a:lstStyle/>
          <a:p>
            <a:endParaRPr lang="en-US"/>
          </a:p>
        </p:txBody>
      </p:sp>
      <p:sp>
        <p:nvSpPr>
          <p:cNvPr id="24" name="Text 22"/>
          <p:cNvSpPr/>
          <p:nvPr/>
        </p:nvSpPr>
        <p:spPr>
          <a:xfrm>
            <a:off x="4846320" y="3063240"/>
            <a:ext cx="3840480" cy="43891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Investment Intelligence</a:t>
            </a:r>
            <a:endParaRPr lang="en-US" sz="1300" dirty="0"/>
          </a:p>
        </p:txBody>
      </p:sp>
      <p:sp>
        <p:nvSpPr>
          <p:cNvPr id="25" name="Text 23"/>
          <p:cNvSpPr/>
          <p:nvPr/>
        </p:nvSpPr>
        <p:spPr>
          <a:xfrm>
            <a:off x="4846320" y="3566160"/>
            <a:ext cx="3840480" cy="384048"/>
          </a:xfrm>
          <a:prstGeom prst="rect">
            <a:avLst/>
          </a:prstGeom>
          <a:noFill/>
          <a:ln/>
        </p:spPr>
        <p:txBody>
          <a:bodyPr wrap="square" lIns="0" tIns="0" rIns="0" bIns="0" rtlCol="0" anchor="ctr"/>
          <a:lstStyle/>
          <a:p>
            <a:pPr marL="0" indent="0">
              <a:buNone/>
            </a:pPr>
            <a:r>
              <a:rPr lang="en-US" sz="1100" b="1" dirty="0">
                <a:solidFill>
                  <a:srgbClr val="6A1B9A"/>
                </a:solidFill>
                <a:latin typeface="Calibri" pitchFamily="34" charset="0"/>
                <a:ea typeface="Calibri" pitchFamily="34" charset="-122"/>
                <a:cs typeface="Calibri" pitchFamily="34" charset="-120"/>
              </a:rPr>
              <a:t>• </a:t>
            </a:r>
            <a:r>
              <a:rPr lang="en-US" sz="1100" dirty="0">
                <a:solidFill>
                  <a:srgbClr val="1B2A4A"/>
                </a:solidFill>
                <a:latin typeface="Calibri" pitchFamily="34" charset="0"/>
                <a:ea typeface="Calibri" pitchFamily="34" charset="-122"/>
                <a:cs typeface="Calibri" pitchFamily="34" charset="-120"/>
              </a:rPr>
              <a:t>Apple &amp; Alphabet top investment scores at 18.96 and 18.69</a:t>
            </a:r>
            <a:endParaRPr lang="en-US" sz="1100" dirty="0"/>
          </a:p>
        </p:txBody>
      </p:sp>
      <p:sp>
        <p:nvSpPr>
          <p:cNvPr id="26" name="Text 24"/>
          <p:cNvSpPr/>
          <p:nvPr/>
        </p:nvSpPr>
        <p:spPr>
          <a:xfrm>
            <a:off x="4846320" y="3977640"/>
            <a:ext cx="3840480" cy="384048"/>
          </a:xfrm>
          <a:prstGeom prst="rect">
            <a:avLst/>
          </a:prstGeom>
          <a:noFill/>
          <a:ln/>
        </p:spPr>
        <p:txBody>
          <a:bodyPr wrap="square" lIns="0" tIns="0" rIns="0" bIns="0" rtlCol="0" anchor="ctr"/>
          <a:lstStyle/>
          <a:p>
            <a:pPr marL="0" indent="0">
              <a:buNone/>
            </a:pPr>
            <a:r>
              <a:rPr lang="en-US" sz="1100" b="1" dirty="0">
                <a:solidFill>
                  <a:srgbClr val="6A1B9A"/>
                </a:solidFill>
                <a:latin typeface="Calibri" pitchFamily="34" charset="0"/>
                <a:ea typeface="Calibri" pitchFamily="34" charset="-122"/>
                <a:cs typeface="Calibri" pitchFamily="34" charset="-120"/>
              </a:rPr>
              <a:t>• </a:t>
            </a:r>
            <a:r>
              <a:rPr lang="en-US" sz="1100" dirty="0">
                <a:solidFill>
                  <a:srgbClr val="1B2A4A"/>
                </a:solidFill>
                <a:latin typeface="Calibri" pitchFamily="34" charset="0"/>
                <a:ea typeface="Calibri" pitchFamily="34" charset="-122"/>
                <a:cs typeface="Calibri" pitchFamily="34" charset="-120"/>
              </a:rPr>
              <a:t>Technology Hardware leads MV to Asset ratio</a:t>
            </a:r>
            <a:endParaRPr lang="en-US" sz="1100" dirty="0"/>
          </a:p>
        </p:txBody>
      </p:sp>
      <p:sp>
        <p:nvSpPr>
          <p:cNvPr id="27" name="Text 25"/>
          <p:cNvSpPr/>
          <p:nvPr/>
        </p:nvSpPr>
        <p:spPr>
          <a:xfrm>
            <a:off x="4846320" y="4389120"/>
            <a:ext cx="3840480" cy="384048"/>
          </a:xfrm>
          <a:prstGeom prst="rect">
            <a:avLst/>
          </a:prstGeom>
          <a:noFill/>
          <a:ln/>
        </p:spPr>
        <p:txBody>
          <a:bodyPr wrap="square" lIns="0" tIns="0" rIns="0" bIns="0" rtlCol="0" anchor="ctr"/>
          <a:lstStyle/>
          <a:p>
            <a:pPr marL="0" indent="0">
              <a:buNone/>
            </a:pPr>
            <a:r>
              <a:rPr lang="en-US" sz="1100" b="1" dirty="0">
                <a:solidFill>
                  <a:srgbClr val="6A1B9A"/>
                </a:solidFill>
                <a:latin typeface="Calibri" pitchFamily="34" charset="0"/>
                <a:ea typeface="Calibri" pitchFamily="34" charset="-122"/>
                <a:cs typeface="Calibri" pitchFamily="34" charset="-120"/>
              </a:rPr>
              <a:t>• </a:t>
            </a:r>
            <a:r>
              <a:rPr lang="en-US" sz="1100" dirty="0">
                <a:solidFill>
                  <a:srgbClr val="1B2A4A"/>
                </a:solidFill>
                <a:latin typeface="Calibri" pitchFamily="34" charset="0"/>
                <a:ea typeface="Calibri" pitchFamily="34" charset="-122"/>
                <a:cs typeface="Calibri" pitchFamily="34" charset="-120"/>
              </a:rPr>
              <a:t>Saudi Arabian Oil &amp; Berkshire are strong non-tech alternatives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STRATEGIC RECOMMENDATIONS FOR CHINEDU OKOLI — CBO</a:t>
            </a:r>
            <a:endParaRPr lang="en-US" sz="2000" dirty="0"/>
          </a:p>
        </p:txBody>
      </p:sp>
      <p:sp>
        <p:nvSpPr>
          <p:cNvPr id="4" name="Shape 2"/>
          <p:cNvSpPr/>
          <p:nvPr/>
        </p:nvSpPr>
        <p:spPr>
          <a:xfrm>
            <a:off x="274320" y="1005840"/>
            <a:ext cx="2743200" cy="3794760"/>
          </a:xfrm>
          <a:prstGeom prst="roundRect">
            <a:avLst>
              <a:gd name="adj" fmla="val 4000"/>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5" name="Shape 3"/>
          <p:cNvSpPr/>
          <p:nvPr/>
        </p:nvSpPr>
        <p:spPr>
          <a:xfrm>
            <a:off x="274320" y="1005840"/>
            <a:ext cx="2743200" cy="548640"/>
          </a:xfrm>
          <a:prstGeom prst="roundRect">
            <a:avLst>
              <a:gd name="adj" fmla="val 20000"/>
            </a:avLst>
          </a:prstGeom>
          <a:solidFill>
            <a:srgbClr val="2E7D32"/>
          </a:solidFill>
          <a:ln/>
        </p:spPr>
        <p:txBody>
          <a:bodyPr/>
          <a:lstStyle/>
          <a:p>
            <a:endParaRPr lang="en-US"/>
          </a:p>
        </p:txBody>
      </p:sp>
      <p:sp>
        <p:nvSpPr>
          <p:cNvPr id="6" name="Text 4"/>
          <p:cNvSpPr/>
          <p:nvPr/>
        </p:nvSpPr>
        <p:spPr>
          <a:xfrm>
            <a:off x="274320" y="1005840"/>
            <a:ext cx="274320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INVEST</a:t>
            </a:r>
            <a:endParaRPr lang="en-US" sz="1400" dirty="0"/>
          </a:p>
        </p:txBody>
      </p:sp>
      <p:sp>
        <p:nvSpPr>
          <p:cNvPr id="7" name="Text 5"/>
          <p:cNvSpPr/>
          <p:nvPr/>
        </p:nvSpPr>
        <p:spPr>
          <a:xfrm>
            <a:off x="411480" y="1664208"/>
            <a:ext cx="2468880" cy="77724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IT Software &amp; Services</a:t>
            </a:r>
            <a:endParaRPr lang="en-US" sz="1300" dirty="0"/>
          </a:p>
          <a:p>
            <a:pPr marL="0" indent="0" algn="ctr">
              <a:buNone/>
            </a:pPr>
            <a:r>
              <a:rPr lang="en-US" sz="1300" b="1" dirty="0">
                <a:solidFill>
                  <a:srgbClr val="1B2A4A"/>
                </a:solidFill>
                <a:latin typeface="Calibri" pitchFamily="34" charset="0"/>
                <a:ea typeface="Calibri" pitchFamily="34" charset="-122"/>
                <a:cs typeface="Calibri" pitchFamily="34" charset="-120"/>
              </a:rPr>
              <a:t>+ Middle East Region</a:t>
            </a:r>
            <a:endParaRPr lang="en-US" sz="1300" dirty="0"/>
          </a:p>
        </p:txBody>
      </p:sp>
      <p:sp>
        <p:nvSpPr>
          <p:cNvPr id="8" name="Text 6"/>
          <p:cNvSpPr/>
          <p:nvPr/>
        </p:nvSpPr>
        <p:spPr>
          <a:xfrm>
            <a:off x="411480" y="1996984"/>
            <a:ext cx="2468880" cy="214884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Highest investment scores (Apple 18.96, Alphabet 18.69), top market value, and strongest MV/Asset ratio. Middle East leads investment quality at 12.99 score — underexplored high-return region.</a:t>
            </a:r>
            <a:endParaRPr lang="en-US" sz="1100" dirty="0"/>
          </a:p>
        </p:txBody>
      </p:sp>
      <p:sp>
        <p:nvSpPr>
          <p:cNvPr id="9" name="Shape 7"/>
          <p:cNvSpPr/>
          <p:nvPr/>
        </p:nvSpPr>
        <p:spPr>
          <a:xfrm>
            <a:off x="3154680" y="1005840"/>
            <a:ext cx="2743200" cy="3794760"/>
          </a:xfrm>
          <a:prstGeom prst="roundRect">
            <a:avLst>
              <a:gd name="adj" fmla="val 4000"/>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10" name="Shape 8"/>
          <p:cNvSpPr/>
          <p:nvPr/>
        </p:nvSpPr>
        <p:spPr>
          <a:xfrm>
            <a:off x="3154680" y="1005840"/>
            <a:ext cx="2743200" cy="548640"/>
          </a:xfrm>
          <a:prstGeom prst="roundRect">
            <a:avLst>
              <a:gd name="adj" fmla="val 20000"/>
            </a:avLst>
          </a:prstGeom>
          <a:solidFill>
            <a:srgbClr val="F9A825"/>
          </a:solidFill>
          <a:ln/>
        </p:spPr>
        <p:txBody>
          <a:bodyPr/>
          <a:lstStyle/>
          <a:p>
            <a:endParaRPr lang="en-US"/>
          </a:p>
        </p:txBody>
      </p:sp>
      <p:sp>
        <p:nvSpPr>
          <p:cNvPr id="11" name="Text 9"/>
          <p:cNvSpPr/>
          <p:nvPr/>
        </p:nvSpPr>
        <p:spPr>
          <a:xfrm>
            <a:off x="3154680" y="1005840"/>
            <a:ext cx="2743200" cy="548640"/>
          </a:xfrm>
          <a:prstGeom prst="rect">
            <a:avLst/>
          </a:prstGeom>
          <a:noFill/>
          <a:ln/>
        </p:spPr>
        <p:txBody>
          <a:bodyPr wrap="square" lIns="0" tIns="0" rIns="0" bIns="0" rtlCol="0" anchor="ctr"/>
          <a:lstStyle/>
          <a:p>
            <a:pPr marL="0" indent="0" algn="ctr">
              <a:buNone/>
            </a:pPr>
            <a:r>
              <a:rPr lang="en-US" sz="1400" b="1" dirty="0">
                <a:solidFill>
                  <a:srgbClr val="FFFF00"/>
                </a:solidFill>
                <a:latin typeface="Calibri" pitchFamily="34" charset="0"/>
                <a:ea typeface="Calibri" pitchFamily="34" charset="-122"/>
                <a:cs typeface="Calibri" pitchFamily="34" charset="-120"/>
              </a:rPr>
              <a:t>⚠</a:t>
            </a:r>
            <a:r>
              <a:rPr lang="en-US" sz="1400" b="1" dirty="0">
                <a:solidFill>
                  <a:srgbClr val="FFFFFF"/>
                </a:solidFill>
                <a:latin typeface="Calibri" pitchFamily="34" charset="0"/>
                <a:ea typeface="Calibri" pitchFamily="34" charset="-122"/>
                <a:cs typeface="Calibri" pitchFamily="34" charset="-120"/>
              </a:rPr>
              <a:t>  MONITOR</a:t>
            </a:r>
            <a:endParaRPr lang="en-US" sz="1400" dirty="0"/>
          </a:p>
        </p:txBody>
      </p:sp>
      <p:sp>
        <p:nvSpPr>
          <p:cNvPr id="12" name="Text 10"/>
          <p:cNvSpPr/>
          <p:nvPr/>
        </p:nvSpPr>
        <p:spPr>
          <a:xfrm>
            <a:off x="3291840" y="1664208"/>
            <a:ext cx="2468880" cy="77724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Oil &amp; Gas &amp;</a:t>
            </a:r>
            <a:endParaRPr lang="en-US" sz="1300" dirty="0"/>
          </a:p>
          <a:p>
            <a:pPr marL="0" indent="0" algn="ctr">
              <a:buNone/>
            </a:pPr>
            <a:r>
              <a:rPr lang="en-US" sz="1300" b="1" dirty="0">
                <a:solidFill>
                  <a:srgbClr val="1B2A4A"/>
                </a:solidFill>
                <a:latin typeface="Calibri" pitchFamily="34" charset="0"/>
                <a:ea typeface="Calibri" pitchFamily="34" charset="-122"/>
                <a:cs typeface="Calibri" pitchFamily="34" charset="-120"/>
              </a:rPr>
              <a:t>Diversified Financials</a:t>
            </a:r>
            <a:endParaRPr lang="en-US" sz="1300" dirty="0"/>
          </a:p>
        </p:txBody>
      </p:sp>
      <p:sp>
        <p:nvSpPr>
          <p:cNvPr id="13" name="Text 11"/>
          <p:cNvSpPr/>
          <p:nvPr/>
        </p:nvSpPr>
        <p:spPr>
          <a:xfrm>
            <a:off x="3291840" y="1996984"/>
            <a:ext cx="2468880" cy="214884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Oil &amp; Gas leads sales but margins are moderate. Diversified Financials has exceptional 43.1% margin but limited scale. Both warrant deeper due diligence before major capital deployment.</a:t>
            </a:r>
            <a:endParaRPr lang="en-US" sz="1100" dirty="0"/>
          </a:p>
        </p:txBody>
      </p:sp>
      <p:sp>
        <p:nvSpPr>
          <p:cNvPr id="14" name="Shape 12"/>
          <p:cNvSpPr/>
          <p:nvPr/>
        </p:nvSpPr>
        <p:spPr>
          <a:xfrm>
            <a:off x="6035040" y="1005840"/>
            <a:ext cx="2743200" cy="3794760"/>
          </a:xfrm>
          <a:prstGeom prst="roundRect">
            <a:avLst>
              <a:gd name="adj" fmla="val 4000"/>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15" name="Shape 13"/>
          <p:cNvSpPr/>
          <p:nvPr/>
        </p:nvSpPr>
        <p:spPr>
          <a:xfrm>
            <a:off x="6035040" y="1005840"/>
            <a:ext cx="2743200" cy="548640"/>
          </a:xfrm>
          <a:prstGeom prst="roundRect">
            <a:avLst>
              <a:gd name="adj" fmla="val 20000"/>
            </a:avLst>
          </a:prstGeom>
          <a:solidFill>
            <a:srgbClr val="E53935"/>
          </a:solidFill>
          <a:ln/>
        </p:spPr>
        <p:txBody>
          <a:bodyPr/>
          <a:lstStyle/>
          <a:p>
            <a:endParaRPr lang="en-US"/>
          </a:p>
        </p:txBody>
      </p:sp>
      <p:sp>
        <p:nvSpPr>
          <p:cNvPr id="16" name="Text 14"/>
          <p:cNvSpPr/>
          <p:nvPr/>
        </p:nvSpPr>
        <p:spPr>
          <a:xfrm>
            <a:off x="6035040" y="1005840"/>
            <a:ext cx="2743200" cy="548640"/>
          </a:xfrm>
          <a:prstGeom prst="rect">
            <a:avLst/>
          </a:prstGeom>
          <a:noFill/>
          <a:ln/>
        </p:spPr>
        <p:txBody>
          <a:bodyPr wrap="square" lIns="0" tIns="0" rIns="0" bIns="0" rtlCol="0" anchor="ctr"/>
          <a:lstStyle/>
          <a:p>
            <a:pPr marL="0" indent="0" algn="ctr">
              <a:buNone/>
            </a:pPr>
            <a:r>
              <a:rPr lang="en-US" sz="1400" b="1" dirty="0">
                <a:solidFill>
                  <a:srgbClr val="FF0000"/>
                </a:solidFill>
                <a:latin typeface="Calibri" pitchFamily="34" charset="0"/>
                <a:ea typeface="Calibri" pitchFamily="34" charset="-122"/>
                <a:cs typeface="Calibri" pitchFamily="34" charset="-120"/>
              </a:rPr>
              <a:t>❌</a:t>
            </a:r>
            <a:r>
              <a:rPr lang="en-US" sz="1400" b="1" dirty="0">
                <a:solidFill>
                  <a:srgbClr val="FFFFFF"/>
                </a:solidFill>
                <a:latin typeface="Calibri" pitchFamily="34" charset="0"/>
                <a:ea typeface="Calibri" pitchFamily="34" charset="-122"/>
                <a:cs typeface="Calibri" pitchFamily="34" charset="-120"/>
              </a:rPr>
              <a:t>  CAUTION</a:t>
            </a:r>
            <a:endParaRPr lang="en-US" sz="1400" dirty="0"/>
          </a:p>
        </p:txBody>
      </p:sp>
      <p:sp>
        <p:nvSpPr>
          <p:cNvPr id="17" name="Text 15"/>
          <p:cNvSpPr/>
          <p:nvPr/>
        </p:nvSpPr>
        <p:spPr>
          <a:xfrm>
            <a:off x="6172200" y="1664208"/>
            <a:ext cx="2468880" cy="77724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Retailing Sector</a:t>
            </a:r>
            <a:endParaRPr lang="en-US" sz="1300" dirty="0"/>
          </a:p>
          <a:p>
            <a:pPr marL="0" indent="0" algn="ctr">
              <a:buNone/>
            </a:pPr>
            <a:r>
              <a:rPr lang="en-US" sz="1300" b="1" dirty="0">
                <a:solidFill>
                  <a:srgbClr val="1B2A4A"/>
                </a:solidFill>
                <a:latin typeface="Calibri" pitchFamily="34" charset="0"/>
                <a:ea typeface="Calibri" pitchFamily="34" charset="-122"/>
                <a:cs typeface="Calibri" pitchFamily="34" charset="-120"/>
              </a:rPr>
              <a:t>+ Asia Region</a:t>
            </a:r>
            <a:endParaRPr lang="en-US" sz="1300" dirty="0"/>
          </a:p>
        </p:txBody>
      </p:sp>
      <p:sp>
        <p:nvSpPr>
          <p:cNvPr id="18" name="Text 16"/>
          <p:cNvSpPr/>
          <p:nvPr/>
        </p:nvSpPr>
        <p:spPr>
          <a:xfrm>
            <a:off x="6172200" y="1926771"/>
            <a:ext cx="2468880" cy="214884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Retailing has the lowest margin (13.7%) and the highest Sales/MV ratio — the market undervalues retail revenue. Asia ranks lowest on investment quality (6.58) despite high profit volume.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IMPLEMENTATION ROADMAP</a:t>
            </a:r>
            <a:endParaRPr lang="en-US" sz="2600" dirty="0"/>
          </a:p>
        </p:txBody>
      </p:sp>
      <p:sp>
        <p:nvSpPr>
          <p:cNvPr id="4" name="Shape 2"/>
          <p:cNvSpPr/>
          <p:nvPr/>
        </p:nvSpPr>
        <p:spPr>
          <a:xfrm>
            <a:off x="274320" y="1005840"/>
            <a:ext cx="2743200" cy="3840480"/>
          </a:xfrm>
          <a:prstGeom prst="roundRect">
            <a:avLst>
              <a:gd name="adj" fmla="val 4000"/>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5" name="Shape 3"/>
          <p:cNvSpPr/>
          <p:nvPr/>
        </p:nvSpPr>
        <p:spPr>
          <a:xfrm>
            <a:off x="274320" y="1005840"/>
            <a:ext cx="2743200" cy="685800"/>
          </a:xfrm>
          <a:prstGeom prst="roundRect">
            <a:avLst>
              <a:gd name="adj" fmla="val 16000"/>
            </a:avLst>
          </a:prstGeom>
          <a:solidFill>
            <a:srgbClr val="002060"/>
          </a:solidFill>
          <a:ln/>
        </p:spPr>
        <p:txBody>
          <a:bodyPr/>
          <a:lstStyle/>
          <a:p>
            <a:endParaRPr lang="en-US"/>
          </a:p>
        </p:txBody>
      </p:sp>
      <p:sp>
        <p:nvSpPr>
          <p:cNvPr id="6" name="Text 4"/>
          <p:cNvSpPr/>
          <p:nvPr/>
        </p:nvSpPr>
        <p:spPr>
          <a:xfrm>
            <a:off x="274320" y="1005840"/>
            <a:ext cx="2743200" cy="384048"/>
          </a:xfrm>
          <a:prstGeom prst="rect">
            <a:avLst/>
          </a:prstGeom>
          <a:noFill/>
          <a:ln/>
        </p:spPr>
        <p:txBody>
          <a:bodyPr wrap="square" lIns="0" tIns="0" rIns="0" bIns="0" rtlCol="0" anchor="b"/>
          <a:lstStyle/>
          <a:p>
            <a:pPr marL="0" indent="0" algn="ctr">
              <a:buNone/>
            </a:pPr>
            <a:r>
              <a:rPr lang="en-US" sz="1300" b="1" dirty="0">
                <a:solidFill>
                  <a:srgbClr val="FFFFFF"/>
                </a:solidFill>
                <a:latin typeface="Calibri" pitchFamily="34" charset="0"/>
                <a:ea typeface="Calibri" pitchFamily="34" charset="-122"/>
                <a:cs typeface="Calibri" pitchFamily="34" charset="-120"/>
              </a:rPr>
              <a:t>SHORT TERM</a:t>
            </a:r>
            <a:endParaRPr lang="en-US" sz="1300" dirty="0"/>
          </a:p>
        </p:txBody>
      </p:sp>
      <p:sp>
        <p:nvSpPr>
          <p:cNvPr id="7" name="Text 5"/>
          <p:cNvSpPr/>
          <p:nvPr/>
        </p:nvSpPr>
        <p:spPr>
          <a:xfrm>
            <a:off x="274320" y="1371600"/>
            <a:ext cx="2743200" cy="292608"/>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0 – 3 Months</a:t>
            </a:r>
            <a:endParaRPr lang="en-US" sz="1000" dirty="0"/>
          </a:p>
        </p:txBody>
      </p:sp>
      <p:sp>
        <p:nvSpPr>
          <p:cNvPr id="8" name="Text 6"/>
          <p:cNvSpPr/>
          <p:nvPr/>
        </p:nvSpPr>
        <p:spPr>
          <a:xfrm>
            <a:off x="411480" y="1828800"/>
            <a:ext cx="2468880" cy="868680"/>
          </a:xfrm>
          <a:prstGeom prst="rect">
            <a:avLst/>
          </a:prstGeom>
          <a:noFill/>
          <a:ln/>
        </p:spPr>
        <p:txBody>
          <a:bodyPr wrap="square" lIns="0" tIns="0" rIns="0" bIns="0"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  </a:t>
            </a:r>
            <a:r>
              <a:rPr lang="en-US" sz="1100" dirty="0">
                <a:solidFill>
                  <a:srgbClr val="1B2A4A"/>
                </a:solidFill>
                <a:latin typeface="Calibri" pitchFamily="34" charset="0"/>
                <a:ea typeface="Calibri" pitchFamily="34" charset="-122"/>
                <a:cs typeface="Calibri" pitchFamily="34" charset="-120"/>
              </a:rPr>
              <a:t>Deep due diligence on Apple, Alphabet &amp; Saudi Aramco as investment candidates</a:t>
            </a:r>
            <a:endParaRPr lang="en-US" sz="1100" dirty="0"/>
          </a:p>
        </p:txBody>
      </p:sp>
      <p:sp>
        <p:nvSpPr>
          <p:cNvPr id="9" name="Text 7"/>
          <p:cNvSpPr/>
          <p:nvPr/>
        </p:nvSpPr>
        <p:spPr>
          <a:xfrm>
            <a:off x="411480" y="2816352"/>
            <a:ext cx="2468880" cy="868680"/>
          </a:xfrm>
          <a:prstGeom prst="rect">
            <a:avLst/>
          </a:prstGeom>
          <a:noFill/>
          <a:ln/>
        </p:spPr>
        <p:txBody>
          <a:bodyPr wrap="square" lIns="0" tIns="0" rIns="0" bIns="0"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  </a:t>
            </a:r>
            <a:r>
              <a:rPr lang="en-US" sz="1100" dirty="0">
                <a:solidFill>
                  <a:srgbClr val="1B2A4A"/>
                </a:solidFill>
                <a:latin typeface="Calibri" pitchFamily="34" charset="0"/>
                <a:ea typeface="Calibri" pitchFamily="34" charset="-122"/>
                <a:cs typeface="Calibri" pitchFamily="34" charset="-120"/>
              </a:rPr>
              <a:t>Begin reducing exposure to loss-making companies in Retailing sector</a:t>
            </a:r>
            <a:endParaRPr lang="en-US" sz="1100" dirty="0"/>
          </a:p>
        </p:txBody>
      </p:sp>
      <p:sp>
        <p:nvSpPr>
          <p:cNvPr id="10" name="Text 8"/>
          <p:cNvSpPr/>
          <p:nvPr/>
        </p:nvSpPr>
        <p:spPr>
          <a:xfrm>
            <a:off x="411480" y="3803904"/>
            <a:ext cx="2468880" cy="868680"/>
          </a:xfrm>
          <a:prstGeom prst="rect">
            <a:avLst/>
          </a:prstGeom>
          <a:noFill/>
          <a:ln/>
        </p:spPr>
        <p:txBody>
          <a:bodyPr wrap="square" lIns="0" tIns="0" rIns="0" bIns="0"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  </a:t>
            </a:r>
            <a:r>
              <a:rPr lang="en-US" sz="1100" dirty="0">
                <a:solidFill>
                  <a:srgbClr val="1B2A4A"/>
                </a:solidFill>
                <a:latin typeface="Calibri" pitchFamily="34" charset="0"/>
                <a:ea typeface="Calibri" pitchFamily="34" charset="-122"/>
                <a:cs typeface="Calibri" pitchFamily="34" charset="-120"/>
              </a:rPr>
              <a:t>Benchmark internal portfolio companies against Forbes 2000 peers</a:t>
            </a:r>
            <a:endParaRPr lang="en-US" sz="1100" dirty="0"/>
          </a:p>
        </p:txBody>
      </p:sp>
      <p:sp>
        <p:nvSpPr>
          <p:cNvPr id="11" name="Shape 9"/>
          <p:cNvSpPr/>
          <p:nvPr/>
        </p:nvSpPr>
        <p:spPr>
          <a:xfrm>
            <a:off x="3154680" y="1005840"/>
            <a:ext cx="2743200" cy="3840480"/>
          </a:xfrm>
          <a:prstGeom prst="roundRect">
            <a:avLst>
              <a:gd name="adj" fmla="val 4000"/>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12" name="Shape 10"/>
          <p:cNvSpPr/>
          <p:nvPr/>
        </p:nvSpPr>
        <p:spPr>
          <a:xfrm>
            <a:off x="3154680" y="1005840"/>
            <a:ext cx="2743200" cy="685800"/>
          </a:xfrm>
          <a:prstGeom prst="roundRect">
            <a:avLst>
              <a:gd name="adj" fmla="val 16000"/>
            </a:avLst>
          </a:prstGeom>
          <a:solidFill>
            <a:srgbClr val="002060"/>
          </a:solidFill>
          <a:ln/>
        </p:spPr>
        <p:txBody>
          <a:bodyPr/>
          <a:lstStyle/>
          <a:p>
            <a:endParaRPr lang="en-US"/>
          </a:p>
        </p:txBody>
      </p:sp>
      <p:sp>
        <p:nvSpPr>
          <p:cNvPr id="13" name="Text 11"/>
          <p:cNvSpPr/>
          <p:nvPr/>
        </p:nvSpPr>
        <p:spPr>
          <a:xfrm>
            <a:off x="3154680" y="1005840"/>
            <a:ext cx="2743200" cy="384048"/>
          </a:xfrm>
          <a:prstGeom prst="rect">
            <a:avLst/>
          </a:prstGeom>
          <a:noFill/>
          <a:ln/>
        </p:spPr>
        <p:txBody>
          <a:bodyPr wrap="square" lIns="0" tIns="0" rIns="0" bIns="0" rtlCol="0" anchor="b"/>
          <a:lstStyle/>
          <a:p>
            <a:pPr marL="0" indent="0" algn="ctr">
              <a:buNone/>
            </a:pPr>
            <a:r>
              <a:rPr lang="en-US" sz="1300" b="1" dirty="0">
                <a:solidFill>
                  <a:srgbClr val="FFFFFF"/>
                </a:solidFill>
                <a:latin typeface="Calibri" pitchFamily="34" charset="0"/>
                <a:ea typeface="Calibri" pitchFamily="34" charset="-122"/>
                <a:cs typeface="Calibri" pitchFamily="34" charset="-120"/>
              </a:rPr>
              <a:t>MEDIUM TERM</a:t>
            </a:r>
            <a:endParaRPr lang="en-US" sz="1300" dirty="0"/>
          </a:p>
        </p:txBody>
      </p:sp>
      <p:sp>
        <p:nvSpPr>
          <p:cNvPr id="14" name="Text 12"/>
          <p:cNvSpPr/>
          <p:nvPr/>
        </p:nvSpPr>
        <p:spPr>
          <a:xfrm>
            <a:off x="3154680" y="1371600"/>
            <a:ext cx="2743200" cy="292608"/>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3 – 12 Months</a:t>
            </a:r>
            <a:endParaRPr lang="en-US" sz="1000" dirty="0"/>
          </a:p>
        </p:txBody>
      </p:sp>
      <p:sp>
        <p:nvSpPr>
          <p:cNvPr id="15" name="Text 13"/>
          <p:cNvSpPr/>
          <p:nvPr/>
        </p:nvSpPr>
        <p:spPr>
          <a:xfrm>
            <a:off x="3291840" y="1828800"/>
            <a:ext cx="2468880" cy="868680"/>
          </a:xfrm>
          <a:prstGeom prst="rect">
            <a:avLst/>
          </a:prstGeom>
          <a:noFill/>
          <a:ln/>
        </p:spPr>
        <p:txBody>
          <a:bodyPr wrap="square" lIns="0" tIns="0" rIns="0" bIns="0" rtlCol="0" anchor="ctr"/>
          <a:lstStyle/>
          <a:p>
            <a:pPr marL="0" indent="0">
              <a:buNone/>
            </a:pPr>
            <a:r>
              <a:rPr lang="en-US" sz="1100" b="1" dirty="0">
                <a:solidFill>
                  <a:srgbClr val="F9A825"/>
                </a:solidFill>
                <a:latin typeface="Calibri" pitchFamily="34" charset="0"/>
                <a:ea typeface="Calibri" pitchFamily="34" charset="-122"/>
                <a:cs typeface="Calibri" pitchFamily="34" charset="-120"/>
              </a:rPr>
              <a:t>→  </a:t>
            </a:r>
            <a:r>
              <a:rPr lang="en-US" sz="1100" dirty="0">
                <a:solidFill>
                  <a:srgbClr val="1B2A4A"/>
                </a:solidFill>
                <a:latin typeface="Calibri" pitchFamily="34" charset="0"/>
                <a:ea typeface="Calibri" pitchFamily="34" charset="-122"/>
                <a:cs typeface="Calibri" pitchFamily="34" charset="-120"/>
              </a:rPr>
              <a:t>Initiate strategic partnership discussions with top-scored companies</a:t>
            </a:r>
            <a:endParaRPr lang="en-US" sz="1100" dirty="0"/>
          </a:p>
        </p:txBody>
      </p:sp>
      <p:sp>
        <p:nvSpPr>
          <p:cNvPr id="16" name="Text 14"/>
          <p:cNvSpPr/>
          <p:nvPr/>
        </p:nvSpPr>
        <p:spPr>
          <a:xfrm>
            <a:off x="3291840" y="2816352"/>
            <a:ext cx="2468880" cy="868680"/>
          </a:xfrm>
          <a:prstGeom prst="rect">
            <a:avLst/>
          </a:prstGeom>
          <a:noFill/>
          <a:ln/>
        </p:spPr>
        <p:txBody>
          <a:bodyPr wrap="square" lIns="0" tIns="0" rIns="0" bIns="0" rtlCol="0" anchor="ctr"/>
          <a:lstStyle/>
          <a:p>
            <a:pPr marL="0" indent="0">
              <a:buNone/>
            </a:pPr>
            <a:r>
              <a:rPr lang="en-US" sz="1100" b="1" dirty="0">
                <a:solidFill>
                  <a:srgbClr val="F9A825"/>
                </a:solidFill>
                <a:latin typeface="Calibri" pitchFamily="34" charset="0"/>
                <a:ea typeface="Calibri" pitchFamily="34" charset="-122"/>
                <a:cs typeface="Calibri" pitchFamily="34" charset="-120"/>
              </a:rPr>
              <a:t>→  </a:t>
            </a:r>
            <a:r>
              <a:rPr lang="en-US" sz="1100" dirty="0">
                <a:solidFill>
                  <a:srgbClr val="1B2A4A"/>
                </a:solidFill>
                <a:latin typeface="Calibri" pitchFamily="34" charset="0"/>
                <a:ea typeface="Calibri" pitchFamily="34" charset="-122"/>
                <a:cs typeface="Calibri" pitchFamily="34" charset="-120"/>
              </a:rPr>
              <a:t>Explore Middle East market entry opportunities</a:t>
            </a:r>
            <a:endParaRPr lang="en-US" sz="1100" dirty="0"/>
          </a:p>
        </p:txBody>
      </p:sp>
      <p:sp>
        <p:nvSpPr>
          <p:cNvPr id="17" name="Text 15"/>
          <p:cNvSpPr/>
          <p:nvPr/>
        </p:nvSpPr>
        <p:spPr>
          <a:xfrm>
            <a:off x="3291840" y="3803904"/>
            <a:ext cx="2468880" cy="868680"/>
          </a:xfrm>
          <a:prstGeom prst="rect">
            <a:avLst/>
          </a:prstGeom>
          <a:noFill/>
          <a:ln/>
        </p:spPr>
        <p:txBody>
          <a:bodyPr wrap="square" lIns="0" tIns="0" rIns="0" bIns="0" rtlCol="0" anchor="ctr"/>
          <a:lstStyle/>
          <a:p>
            <a:pPr marL="0" indent="0">
              <a:buNone/>
            </a:pPr>
            <a:r>
              <a:rPr lang="en-US" sz="1100" b="1" dirty="0">
                <a:solidFill>
                  <a:srgbClr val="F9A825"/>
                </a:solidFill>
                <a:latin typeface="Calibri" pitchFamily="34" charset="0"/>
                <a:ea typeface="Calibri" pitchFamily="34" charset="-122"/>
                <a:cs typeface="Calibri" pitchFamily="34" charset="-120"/>
              </a:rPr>
              <a:t>→  </a:t>
            </a:r>
            <a:r>
              <a:rPr lang="en-US" sz="1100" dirty="0">
                <a:solidFill>
                  <a:srgbClr val="1B2A4A"/>
                </a:solidFill>
                <a:latin typeface="Calibri" pitchFamily="34" charset="0"/>
                <a:ea typeface="Calibri" pitchFamily="34" charset="-122"/>
                <a:cs typeface="Calibri" pitchFamily="34" charset="-120"/>
              </a:rPr>
              <a:t>Monitor Oil &amp; Gas and Diversified Financials margin trends</a:t>
            </a:r>
            <a:endParaRPr lang="en-US" sz="1100" dirty="0"/>
          </a:p>
        </p:txBody>
      </p:sp>
      <p:sp>
        <p:nvSpPr>
          <p:cNvPr id="18" name="Shape 16"/>
          <p:cNvSpPr/>
          <p:nvPr/>
        </p:nvSpPr>
        <p:spPr>
          <a:xfrm>
            <a:off x="6035040" y="1005840"/>
            <a:ext cx="2743200" cy="3840480"/>
          </a:xfrm>
          <a:prstGeom prst="roundRect">
            <a:avLst>
              <a:gd name="adj" fmla="val 4000"/>
            </a:avLst>
          </a:prstGeom>
          <a:solidFill>
            <a:srgbClr val="ECF0F5"/>
          </a:solidFill>
          <a:ln>
            <a:solidFill>
              <a:schemeClr val="accent1">
                <a:lumMod val="40000"/>
                <a:lumOff val="60000"/>
              </a:schemeClr>
            </a:solidFill>
          </a:ln>
          <a:effectLst>
            <a:outerShdw blurRad="76200" dist="25400" dir="2700000" algn="bl" rotWithShape="0">
              <a:srgbClr val="000000">
                <a:alpha val="13000"/>
              </a:srgbClr>
            </a:outerShdw>
          </a:effectLst>
        </p:spPr>
        <p:txBody>
          <a:bodyPr/>
          <a:lstStyle/>
          <a:p>
            <a:endParaRPr lang="en-US"/>
          </a:p>
        </p:txBody>
      </p:sp>
      <p:sp>
        <p:nvSpPr>
          <p:cNvPr id="19" name="Shape 17"/>
          <p:cNvSpPr/>
          <p:nvPr/>
        </p:nvSpPr>
        <p:spPr>
          <a:xfrm>
            <a:off x="6035040" y="1005840"/>
            <a:ext cx="2743200" cy="685800"/>
          </a:xfrm>
          <a:prstGeom prst="roundRect">
            <a:avLst>
              <a:gd name="adj" fmla="val 16000"/>
            </a:avLst>
          </a:prstGeom>
          <a:solidFill>
            <a:srgbClr val="002060"/>
          </a:solidFill>
          <a:ln/>
        </p:spPr>
        <p:txBody>
          <a:bodyPr/>
          <a:lstStyle/>
          <a:p>
            <a:endParaRPr lang="en-US"/>
          </a:p>
        </p:txBody>
      </p:sp>
      <p:sp>
        <p:nvSpPr>
          <p:cNvPr id="20" name="Text 18"/>
          <p:cNvSpPr/>
          <p:nvPr/>
        </p:nvSpPr>
        <p:spPr>
          <a:xfrm>
            <a:off x="6035040" y="1005840"/>
            <a:ext cx="2743200" cy="384048"/>
          </a:xfrm>
          <a:prstGeom prst="rect">
            <a:avLst/>
          </a:prstGeom>
          <a:noFill/>
          <a:ln/>
        </p:spPr>
        <p:txBody>
          <a:bodyPr wrap="square" lIns="0" tIns="0" rIns="0" bIns="0" rtlCol="0" anchor="b"/>
          <a:lstStyle/>
          <a:p>
            <a:pPr marL="0" indent="0" algn="ctr">
              <a:buNone/>
            </a:pPr>
            <a:r>
              <a:rPr lang="en-US" sz="1300" b="1" dirty="0">
                <a:solidFill>
                  <a:srgbClr val="FFFFFF"/>
                </a:solidFill>
                <a:latin typeface="Calibri" pitchFamily="34" charset="0"/>
                <a:ea typeface="Calibri" pitchFamily="34" charset="-122"/>
                <a:cs typeface="Calibri" pitchFamily="34" charset="-120"/>
              </a:rPr>
              <a:t>LONG TERM</a:t>
            </a:r>
            <a:endParaRPr lang="en-US" sz="1300" dirty="0"/>
          </a:p>
        </p:txBody>
      </p:sp>
      <p:sp>
        <p:nvSpPr>
          <p:cNvPr id="21" name="Text 19"/>
          <p:cNvSpPr/>
          <p:nvPr/>
        </p:nvSpPr>
        <p:spPr>
          <a:xfrm>
            <a:off x="6035040" y="1371600"/>
            <a:ext cx="2743200" cy="292608"/>
          </a:xfrm>
          <a:prstGeom prst="rect">
            <a:avLst/>
          </a:prstGeom>
          <a:noFill/>
          <a:ln/>
        </p:spPr>
        <p:txBody>
          <a:bodyPr wrap="square" lIns="0" tIns="0" rIns="0" bIns="0" rtlCol="0" anchor="t"/>
          <a:lstStyle/>
          <a:p>
            <a:pPr marL="0" indent="0" algn="ctr">
              <a:buNone/>
            </a:pPr>
            <a:r>
              <a:rPr lang="en-US" sz="1000" dirty="0">
                <a:solidFill>
                  <a:srgbClr val="FFFFFF"/>
                </a:solidFill>
                <a:latin typeface="Calibri" pitchFamily="34" charset="0"/>
                <a:ea typeface="Calibri" pitchFamily="34" charset="-122"/>
                <a:cs typeface="Calibri" pitchFamily="34" charset="-120"/>
              </a:rPr>
              <a:t>1 – 3 Years</a:t>
            </a:r>
            <a:endParaRPr lang="en-US" sz="1000" dirty="0"/>
          </a:p>
        </p:txBody>
      </p:sp>
      <p:sp>
        <p:nvSpPr>
          <p:cNvPr id="22" name="Text 20"/>
          <p:cNvSpPr/>
          <p:nvPr/>
        </p:nvSpPr>
        <p:spPr>
          <a:xfrm>
            <a:off x="6172200" y="1828800"/>
            <a:ext cx="2468880" cy="868680"/>
          </a:xfrm>
          <a:prstGeom prst="rect">
            <a:avLst/>
          </a:prstGeom>
          <a:noFill/>
          <a:ln/>
        </p:spPr>
        <p:txBody>
          <a:bodyPr wrap="square" lIns="0" tIns="0" rIns="0" bIns="0"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  </a:t>
            </a:r>
            <a:r>
              <a:rPr lang="en-US" sz="1100" dirty="0">
                <a:solidFill>
                  <a:srgbClr val="1B2A4A"/>
                </a:solidFill>
                <a:latin typeface="Calibri" pitchFamily="34" charset="0"/>
                <a:ea typeface="Calibri" pitchFamily="34" charset="-122"/>
                <a:cs typeface="Calibri" pitchFamily="34" charset="-120"/>
              </a:rPr>
              <a:t>Build portfolio concentration in high-margin, asset-efficient sectors</a:t>
            </a:r>
            <a:endParaRPr lang="en-US" sz="1100" dirty="0"/>
          </a:p>
        </p:txBody>
      </p:sp>
      <p:sp>
        <p:nvSpPr>
          <p:cNvPr id="23" name="Text 21"/>
          <p:cNvSpPr/>
          <p:nvPr/>
        </p:nvSpPr>
        <p:spPr>
          <a:xfrm>
            <a:off x="6172200" y="2816352"/>
            <a:ext cx="2468880" cy="868680"/>
          </a:xfrm>
          <a:prstGeom prst="rect">
            <a:avLst/>
          </a:prstGeom>
          <a:noFill/>
          <a:ln/>
        </p:spPr>
        <p:txBody>
          <a:bodyPr wrap="square" lIns="0" tIns="0" rIns="0" bIns="0"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  </a:t>
            </a:r>
            <a:r>
              <a:rPr lang="en-US" sz="1100" dirty="0">
                <a:solidFill>
                  <a:srgbClr val="1B2A4A"/>
                </a:solidFill>
                <a:latin typeface="Calibri" pitchFamily="34" charset="0"/>
                <a:ea typeface="Calibri" pitchFamily="34" charset="-122"/>
                <a:cs typeface="Calibri" pitchFamily="34" charset="-120"/>
              </a:rPr>
              <a:t>Establish continuous performance monitoring framework using this analysis</a:t>
            </a:r>
            <a:endParaRPr lang="en-US" sz="1100" dirty="0"/>
          </a:p>
        </p:txBody>
      </p:sp>
      <p:sp>
        <p:nvSpPr>
          <p:cNvPr id="24" name="Text 22"/>
          <p:cNvSpPr/>
          <p:nvPr/>
        </p:nvSpPr>
        <p:spPr>
          <a:xfrm>
            <a:off x="6172200" y="3803904"/>
            <a:ext cx="2468880" cy="868680"/>
          </a:xfrm>
          <a:prstGeom prst="rect">
            <a:avLst/>
          </a:prstGeom>
          <a:noFill/>
          <a:ln/>
        </p:spPr>
        <p:txBody>
          <a:bodyPr wrap="square" lIns="0" tIns="0" rIns="0" bIns="0"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  </a:t>
            </a:r>
            <a:r>
              <a:rPr lang="en-US" sz="1100" dirty="0">
                <a:solidFill>
                  <a:srgbClr val="1B2A4A"/>
                </a:solidFill>
                <a:latin typeface="Calibri" pitchFamily="34" charset="0"/>
                <a:ea typeface="Calibri" pitchFamily="34" charset="-122"/>
                <a:cs typeface="Calibri" pitchFamily="34" charset="-120"/>
              </a:rPr>
              <a:t>Reduce Asia exposure unless investment quality scores improve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3E"/>
          </a:solidFill>
          <a:ln w="12700">
            <a:solidFill>
              <a:srgbClr val="0D1B3E"/>
            </a:solidFill>
            <a:prstDash val="solid"/>
          </a:ln>
        </p:spPr>
        <p:txBody>
          <a:bodyPr/>
          <a:lstStyle/>
          <a:p>
            <a:endParaRPr lang="en-US"/>
          </a:p>
        </p:txBody>
      </p:sp>
      <p:sp>
        <p:nvSpPr>
          <p:cNvPr id="3" name="Text 1"/>
          <p:cNvSpPr/>
          <p:nvPr/>
        </p:nvSpPr>
        <p:spPr>
          <a:xfrm>
            <a:off x="457200" y="91440"/>
            <a:ext cx="8229600" cy="7315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5 THINGS SMARTCORP NEEDS TO KNOW</a:t>
            </a:r>
            <a:endParaRPr lang="en-US" sz="2400" dirty="0"/>
          </a:p>
        </p:txBody>
      </p:sp>
      <p:sp>
        <p:nvSpPr>
          <p:cNvPr id="4" name="Shape 2"/>
          <p:cNvSpPr/>
          <p:nvPr/>
        </p:nvSpPr>
        <p:spPr>
          <a:xfrm>
            <a:off x="365760" y="1005840"/>
            <a:ext cx="8412480" cy="685800"/>
          </a:xfrm>
          <a:prstGeom prst="roundRect">
            <a:avLst>
              <a:gd name="adj" fmla="val 12000"/>
            </a:avLst>
          </a:prstGeom>
          <a:solidFill>
            <a:srgbClr val="ECF0F5"/>
          </a:solidFill>
          <a:ln>
            <a:solidFill>
              <a:schemeClr val="accent1">
                <a:lumMod val="20000"/>
                <a:lumOff val="80000"/>
              </a:schemeClr>
            </a:solidFill>
          </a:ln>
          <a:effectLst>
            <a:outerShdw blurRad="76200" dist="25400" dir="2700000" algn="bl" rotWithShape="0">
              <a:srgbClr val="000000">
                <a:alpha val="13000"/>
              </a:srgbClr>
            </a:outerShdw>
          </a:effectLst>
        </p:spPr>
        <p:txBody>
          <a:bodyPr/>
          <a:lstStyle/>
          <a:p>
            <a:endParaRPr lang="en-US"/>
          </a:p>
        </p:txBody>
      </p:sp>
      <p:sp>
        <p:nvSpPr>
          <p:cNvPr id="5" name="Shape 3"/>
          <p:cNvSpPr/>
          <p:nvPr/>
        </p:nvSpPr>
        <p:spPr>
          <a:xfrm>
            <a:off x="365760" y="1005840"/>
            <a:ext cx="548640" cy="685800"/>
          </a:xfrm>
          <a:prstGeom prst="roundRect">
            <a:avLst>
              <a:gd name="adj" fmla="val 15000"/>
            </a:avLst>
          </a:prstGeom>
          <a:solidFill>
            <a:srgbClr val="002060"/>
          </a:solidFill>
          <a:ln>
            <a:solidFill>
              <a:srgbClr val="002060"/>
            </a:solidFill>
          </a:ln>
        </p:spPr>
        <p:txBody>
          <a:bodyPr/>
          <a:lstStyle/>
          <a:p>
            <a:endParaRPr lang="en-US"/>
          </a:p>
        </p:txBody>
      </p:sp>
      <p:sp>
        <p:nvSpPr>
          <p:cNvPr id="6" name="Text 4"/>
          <p:cNvSpPr/>
          <p:nvPr/>
        </p:nvSpPr>
        <p:spPr>
          <a:xfrm>
            <a:off x="365760" y="1005840"/>
            <a:ext cx="54864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1005840" y="1097280"/>
            <a:ext cx="7589520" cy="502920"/>
          </a:xfrm>
          <a:prstGeom prst="rect">
            <a:avLst/>
          </a:prstGeom>
          <a:noFill/>
          <a:ln/>
        </p:spPr>
        <p:txBody>
          <a:bodyPr wrap="square" lIns="0" tIns="0" rIns="0" bIns="0" rtlCol="0" anchor="ctr"/>
          <a:lstStyle/>
          <a:p>
            <a:pPr marL="0" indent="0">
              <a:buNone/>
            </a:pPr>
            <a:r>
              <a:rPr lang="en-US" sz="1300" dirty="0">
                <a:solidFill>
                  <a:srgbClr val="1B2A4A"/>
                </a:solidFill>
                <a:latin typeface="Calibri" pitchFamily="34" charset="0"/>
                <a:ea typeface="Calibri" pitchFamily="34" charset="-122"/>
                <a:cs typeface="Calibri" pitchFamily="34" charset="-120"/>
              </a:rPr>
              <a:t>Rank alone does not reflect true corporate performance — profit margin is the real indicator</a:t>
            </a:r>
            <a:endParaRPr lang="en-US" sz="1300" dirty="0"/>
          </a:p>
        </p:txBody>
      </p:sp>
      <p:sp>
        <p:nvSpPr>
          <p:cNvPr id="8" name="Shape 6"/>
          <p:cNvSpPr/>
          <p:nvPr/>
        </p:nvSpPr>
        <p:spPr>
          <a:xfrm>
            <a:off x="365760" y="1810512"/>
            <a:ext cx="8412480" cy="685800"/>
          </a:xfrm>
          <a:prstGeom prst="roundRect">
            <a:avLst>
              <a:gd name="adj" fmla="val 12000"/>
            </a:avLst>
          </a:prstGeom>
          <a:solidFill>
            <a:srgbClr val="ECF0F5"/>
          </a:solidFill>
          <a:ln>
            <a:solidFill>
              <a:schemeClr val="accent1">
                <a:lumMod val="20000"/>
                <a:lumOff val="80000"/>
              </a:schemeClr>
            </a:solidFill>
          </a:ln>
          <a:effectLst>
            <a:outerShdw blurRad="76200" dist="25400" dir="2700000" algn="bl" rotWithShape="0">
              <a:srgbClr val="000000">
                <a:alpha val="13000"/>
              </a:srgbClr>
            </a:outerShdw>
          </a:effectLst>
        </p:spPr>
        <p:txBody>
          <a:bodyPr/>
          <a:lstStyle/>
          <a:p>
            <a:endParaRPr lang="en-US"/>
          </a:p>
        </p:txBody>
      </p:sp>
      <p:sp>
        <p:nvSpPr>
          <p:cNvPr id="9" name="Shape 7"/>
          <p:cNvSpPr/>
          <p:nvPr/>
        </p:nvSpPr>
        <p:spPr>
          <a:xfrm>
            <a:off x="365760" y="1810512"/>
            <a:ext cx="548640" cy="685800"/>
          </a:xfrm>
          <a:prstGeom prst="roundRect">
            <a:avLst>
              <a:gd name="adj" fmla="val 15000"/>
            </a:avLst>
          </a:prstGeom>
          <a:solidFill>
            <a:srgbClr val="002060"/>
          </a:solidFill>
          <a:ln/>
        </p:spPr>
        <p:txBody>
          <a:bodyPr/>
          <a:lstStyle/>
          <a:p>
            <a:endParaRPr lang="en-US"/>
          </a:p>
        </p:txBody>
      </p:sp>
      <p:sp>
        <p:nvSpPr>
          <p:cNvPr id="10" name="Text 8"/>
          <p:cNvSpPr/>
          <p:nvPr/>
        </p:nvSpPr>
        <p:spPr>
          <a:xfrm>
            <a:off x="365760" y="1810512"/>
            <a:ext cx="54864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1" name="Text 9"/>
          <p:cNvSpPr/>
          <p:nvPr/>
        </p:nvSpPr>
        <p:spPr>
          <a:xfrm>
            <a:off x="1005840" y="1901952"/>
            <a:ext cx="7589520" cy="502920"/>
          </a:xfrm>
          <a:prstGeom prst="rect">
            <a:avLst/>
          </a:prstGeom>
          <a:noFill/>
          <a:ln/>
        </p:spPr>
        <p:txBody>
          <a:bodyPr wrap="square" lIns="0" tIns="0" rIns="0" bIns="0" rtlCol="0" anchor="ctr"/>
          <a:lstStyle/>
          <a:p>
            <a:pPr marL="0" indent="0">
              <a:buNone/>
            </a:pPr>
            <a:r>
              <a:rPr lang="en-US" sz="1300" dirty="0">
                <a:solidFill>
                  <a:srgbClr val="1B2A4A"/>
                </a:solidFill>
                <a:latin typeface="Calibri" pitchFamily="34" charset="0"/>
                <a:ea typeface="Calibri" pitchFamily="34" charset="-122"/>
                <a:cs typeface="Calibri" pitchFamily="34" charset="-120"/>
              </a:rPr>
              <a:t>Oil &amp; Gas leads sales but Diversified Financials leads profitability — size ≠ efficiency</a:t>
            </a:r>
            <a:endParaRPr lang="en-US" sz="1300" dirty="0"/>
          </a:p>
        </p:txBody>
      </p:sp>
      <p:sp>
        <p:nvSpPr>
          <p:cNvPr id="12" name="Shape 10"/>
          <p:cNvSpPr/>
          <p:nvPr/>
        </p:nvSpPr>
        <p:spPr>
          <a:xfrm>
            <a:off x="365760" y="2615184"/>
            <a:ext cx="8412480" cy="685800"/>
          </a:xfrm>
          <a:prstGeom prst="roundRect">
            <a:avLst>
              <a:gd name="adj" fmla="val 12000"/>
            </a:avLst>
          </a:prstGeom>
          <a:solidFill>
            <a:srgbClr val="ECF0F5"/>
          </a:solidFill>
          <a:ln>
            <a:solidFill>
              <a:schemeClr val="accent1">
                <a:lumMod val="20000"/>
                <a:lumOff val="80000"/>
              </a:schemeClr>
            </a:solidFill>
          </a:ln>
          <a:effectLst>
            <a:outerShdw blurRad="76200" dist="25400" dir="2700000" algn="bl" rotWithShape="0">
              <a:srgbClr val="000000">
                <a:alpha val="13000"/>
              </a:srgbClr>
            </a:outerShdw>
          </a:effectLst>
        </p:spPr>
        <p:txBody>
          <a:bodyPr/>
          <a:lstStyle/>
          <a:p>
            <a:endParaRPr lang="en-US"/>
          </a:p>
        </p:txBody>
      </p:sp>
      <p:sp>
        <p:nvSpPr>
          <p:cNvPr id="13" name="Shape 11"/>
          <p:cNvSpPr/>
          <p:nvPr/>
        </p:nvSpPr>
        <p:spPr>
          <a:xfrm>
            <a:off x="365760" y="2615184"/>
            <a:ext cx="548640" cy="685800"/>
          </a:xfrm>
          <a:prstGeom prst="roundRect">
            <a:avLst>
              <a:gd name="adj" fmla="val 15000"/>
            </a:avLst>
          </a:prstGeom>
          <a:solidFill>
            <a:srgbClr val="002060"/>
          </a:solidFill>
          <a:ln/>
        </p:spPr>
        <p:txBody>
          <a:bodyPr/>
          <a:lstStyle/>
          <a:p>
            <a:endParaRPr lang="en-US"/>
          </a:p>
        </p:txBody>
      </p:sp>
      <p:sp>
        <p:nvSpPr>
          <p:cNvPr id="14" name="Text 12"/>
          <p:cNvSpPr/>
          <p:nvPr/>
        </p:nvSpPr>
        <p:spPr>
          <a:xfrm>
            <a:off x="365760" y="2615184"/>
            <a:ext cx="54864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5" name="Text 13"/>
          <p:cNvSpPr/>
          <p:nvPr/>
        </p:nvSpPr>
        <p:spPr>
          <a:xfrm>
            <a:off x="1005840" y="2706624"/>
            <a:ext cx="7589520" cy="502920"/>
          </a:xfrm>
          <a:prstGeom prst="rect">
            <a:avLst/>
          </a:prstGeom>
          <a:noFill/>
          <a:ln/>
        </p:spPr>
        <p:txBody>
          <a:bodyPr wrap="square" lIns="0" tIns="0" rIns="0" bIns="0" rtlCol="0" anchor="ctr"/>
          <a:lstStyle/>
          <a:p>
            <a:pPr marL="0" indent="0">
              <a:buNone/>
            </a:pPr>
            <a:r>
              <a:rPr lang="en-US" sz="1300" dirty="0">
                <a:solidFill>
                  <a:srgbClr val="1B2A4A"/>
                </a:solidFill>
                <a:latin typeface="Calibri" pitchFamily="34" charset="0"/>
                <a:ea typeface="Calibri" pitchFamily="34" charset="-122"/>
                <a:cs typeface="Calibri" pitchFamily="34" charset="-120"/>
              </a:rPr>
              <a:t>North America and Asia dominate in volume — but geographic diversification is a strategic priority</a:t>
            </a:r>
            <a:endParaRPr lang="en-US" sz="1300" dirty="0"/>
          </a:p>
        </p:txBody>
      </p:sp>
      <p:sp>
        <p:nvSpPr>
          <p:cNvPr id="16" name="Shape 14"/>
          <p:cNvSpPr/>
          <p:nvPr/>
        </p:nvSpPr>
        <p:spPr>
          <a:xfrm>
            <a:off x="365760" y="3419856"/>
            <a:ext cx="8412480" cy="685800"/>
          </a:xfrm>
          <a:prstGeom prst="roundRect">
            <a:avLst>
              <a:gd name="adj" fmla="val 12000"/>
            </a:avLst>
          </a:prstGeom>
          <a:solidFill>
            <a:srgbClr val="ECF0F5"/>
          </a:solidFill>
          <a:ln>
            <a:solidFill>
              <a:schemeClr val="accent1">
                <a:lumMod val="20000"/>
                <a:lumOff val="80000"/>
              </a:schemeClr>
            </a:solidFill>
          </a:ln>
          <a:effectLst>
            <a:outerShdw blurRad="76200" dist="25400" dir="2700000" algn="bl" rotWithShape="0">
              <a:srgbClr val="000000">
                <a:alpha val="13000"/>
              </a:srgbClr>
            </a:outerShdw>
          </a:effectLst>
        </p:spPr>
        <p:txBody>
          <a:bodyPr/>
          <a:lstStyle/>
          <a:p>
            <a:endParaRPr lang="en-US"/>
          </a:p>
        </p:txBody>
      </p:sp>
      <p:sp>
        <p:nvSpPr>
          <p:cNvPr id="17" name="Shape 15"/>
          <p:cNvSpPr/>
          <p:nvPr/>
        </p:nvSpPr>
        <p:spPr>
          <a:xfrm>
            <a:off x="365760" y="3419856"/>
            <a:ext cx="548640" cy="685800"/>
          </a:xfrm>
          <a:prstGeom prst="roundRect">
            <a:avLst>
              <a:gd name="adj" fmla="val 15000"/>
            </a:avLst>
          </a:prstGeom>
          <a:solidFill>
            <a:srgbClr val="002060"/>
          </a:solidFill>
          <a:ln/>
        </p:spPr>
        <p:txBody>
          <a:bodyPr/>
          <a:lstStyle/>
          <a:p>
            <a:endParaRPr lang="en-US"/>
          </a:p>
        </p:txBody>
      </p:sp>
      <p:sp>
        <p:nvSpPr>
          <p:cNvPr id="18" name="Text 16"/>
          <p:cNvSpPr/>
          <p:nvPr/>
        </p:nvSpPr>
        <p:spPr>
          <a:xfrm>
            <a:off x="365760" y="3419856"/>
            <a:ext cx="54864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19" name="Text 17"/>
          <p:cNvSpPr/>
          <p:nvPr/>
        </p:nvSpPr>
        <p:spPr>
          <a:xfrm>
            <a:off x="1005840" y="3511296"/>
            <a:ext cx="7589520" cy="502920"/>
          </a:xfrm>
          <a:prstGeom prst="rect">
            <a:avLst/>
          </a:prstGeom>
          <a:noFill/>
          <a:ln/>
        </p:spPr>
        <p:txBody>
          <a:bodyPr wrap="square" lIns="0" tIns="0" rIns="0" bIns="0" rtlCol="0" anchor="ctr"/>
          <a:lstStyle/>
          <a:p>
            <a:pPr marL="0" indent="0">
              <a:buNone/>
            </a:pPr>
            <a:r>
              <a:rPr lang="en-US" sz="1300" dirty="0">
                <a:solidFill>
                  <a:srgbClr val="1B2A4A"/>
                </a:solidFill>
                <a:latin typeface="Calibri" pitchFamily="34" charset="0"/>
                <a:ea typeface="Calibri" pitchFamily="34" charset="-122"/>
                <a:cs typeface="Calibri" pitchFamily="34" charset="-120"/>
              </a:rPr>
              <a:t>Retailing shows signs of significant market undervaluation despite enormous revenue generation</a:t>
            </a:r>
            <a:endParaRPr lang="en-US" sz="1300" dirty="0"/>
          </a:p>
        </p:txBody>
      </p:sp>
      <p:sp>
        <p:nvSpPr>
          <p:cNvPr id="20" name="Shape 18"/>
          <p:cNvSpPr/>
          <p:nvPr/>
        </p:nvSpPr>
        <p:spPr>
          <a:xfrm>
            <a:off x="365760" y="4224528"/>
            <a:ext cx="8412480" cy="685800"/>
          </a:xfrm>
          <a:prstGeom prst="roundRect">
            <a:avLst>
              <a:gd name="adj" fmla="val 12000"/>
            </a:avLst>
          </a:prstGeom>
          <a:solidFill>
            <a:srgbClr val="ECF0F5"/>
          </a:solidFill>
          <a:ln>
            <a:solidFill>
              <a:schemeClr val="accent1">
                <a:lumMod val="20000"/>
                <a:lumOff val="80000"/>
              </a:schemeClr>
            </a:solidFill>
          </a:ln>
          <a:effectLst>
            <a:outerShdw blurRad="76200" dist="25400" dir="2700000" algn="bl" rotWithShape="0">
              <a:srgbClr val="000000">
                <a:alpha val="13000"/>
              </a:srgbClr>
            </a:outerShdw>
          </a:effectLst>
        </p:spPr>
        <p:txBody>
          <a:bodyPr/>
          <a:lstStyle/>
          <a:p>
            <a:endParaRPr lang="en-US"/>
          </a:p>
        </p:txBody>
      </p:sp>
      <p:sp>
        <p:nvSpPr>
          <p:cNvPr id="21" name="Shape 19"/>
          <p:cNvSpPr/>
          <p:nvPr/>
        </p:nvSpPr>
        <p:spPr>
          <a:xfrm>
            <a:off x="365760" y="4224528"/>
            <a:ext cx="548640" cy="685800"/>
          </a:xfrm>
          <a:prstGeom prst="roundRect">
            <a:avLst>
              <a:gd name="adj" fmla="val 15000"/>
            </a:avLst>
          </a:prstGeom>
          <a:solidFill>
            <a:srgbClr val="002060"/>
          </a:solidFill>
          <a:ln/>
        </p:spPr>
        <p:txBody>
          <a:bodyPr/>
          <a:lstStyle/>
          <a:p>
            <a:endParaRPr lang="en-US"/>
          </a:p>
        </p:txBody>
      </p:sp>
      <p:sp>
        <p:nvSpPr>
          <p:cNvPr id="22" name="Text 20"/>
          <p:cNvSpPr/>
          <p:nvPr/>
        </p:nvSpPr>
        <p:spPr>
          <a:xfrm>
            <a:off x="365760" y="4224528"/>
            <a:ext cx="54864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3" name="Text 21"/>
          <p:cNvSpPr/>
          <p:nvPr/>
        </p:nvSpPr>
        <p:spPr>
          <a:xfrm>
            <a:off x="1005840" y="4315968"/>
            <a:ext cx="7589520" cy="502920"/>
          </a:xfrm>
          <a:prstGeom prst="rect">
            <a:avLst/>
          </a:prstGeom>
          <a:noFill/>
          <a:ln/>
        </p:spPr>
        <p:txBody>
          <a:bodyPr wrap="square" lIns="0" tIns="0" rIns="0" bIns="0" rtlCol="0" anchor="ctr"/>
          <a:lstStyle/>
          <a:p>
            <a:pPr marL="0" indent="0">
              <a:buNone/>
            </a:pPr>
            <a:r>
              <a:rPr lang="en-US" sz="1300" dirty="0">
                <a:solidFill>
                  <a:srgbClr val="1B2A4A"/>
                </a:solidFill>
                <a:latin typeface="Calibri" pitchFamily="34" charset="0"/>
                <a:ea typeface="Calibri" pitchFamily="34" charset="-122"/>
                <a:cs typeface="Calibri" pitchFamily="34" charset="-120"/>
              </a:rPr>
              <a:t>Apple, Alphabet, Saudi Aramco &amp; Berkshire Hathaway are the strongest investment candidates in the dataset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548640" y="457200"/>
            <a:ext cx="8046720" cy="685800"/>
          </a:xfrm>
          <a:prstGeom prst="rect">
            <a:avLst/>
          </a:prstGeom>
          <a:noFill/>
          <a:ln/>
        </p:spPr>
        <p:txBody>
          <a:bodyPr wrap="square" lIns="0" tIns="0" rIns="0" bIns="0" rtlCol="0" anchor="ctr"/>
          <a:lstStyle/>
          <a:p>
            <a:pPr marL="0" indent="0" algn="ctr">
              <a:buNone/>
            </a:pPr>
            <a:r>
              <a:rPr lang="en-US" sz="3600" b="1" kern="0" spc="400" dirty="0">
                <a:solidFill>
                  <a:srgbClr val="FFFFFF"/>
                </a:solidFill>
                <a:latin typeface="Calibri" pitchFamily="34" charset="0"/>
                <a:ea typeface="Calibri" pitchFamily="34" charset="-122"/>
                <a:cs typeface="Calibri" pitchFamily="34" charset="-120"/>
              </a:rPr>
              <a:t>CONCLUSION</a:t>
            </a:r>
            <a:endParaRPr lang="en-US" sz="3600" dirty="0"/>
          </a:p>
        </p:txBody>
      </p:sp>
      <p:sp>
        <p:nvSpPr>
          <p:cNvPr id="3" name="Shape 1"/>
          <p:cNvSpPr/>
          <p:nvPr/>
        </p:nvSpPr>
        <p:spPr>
          <a:xfrm>
            <a:off x="3553097" y="1184148"/>
            <a:ext cx="1828800" cy="64008"/>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endParaRPr lang="en-US"/>
          </a:p>
        </p:txBody>
      </p:sp>
      <p:sp>
        <p:nvSpPr>
          <p:cNvPr id="4" name="Text 2"/>
          <p:cNvSpPr/>
          <p:nvPr/>
        </p:nvSpPr>
        <p:spPr>
          <a:xfrm>
            <a:off x="548640" y="1417320"/>
            <a:ext cx="8046720" cy="1463040"/>
          </a:xfrm>
          <a:prstGeom prst="rect">
            <a:avLst/>
          </a:prstGeom>
          <a:noFill/>
          <a:ln/>
        </p:spPr>
        <p:txBody>
          <a:bodyPr wrap="square" lIns="0" tIns="0" rIns="0" bIns="0" rtlCol="0" anchor="ctr"/>
          <a:lstStyle/>
          <a:p>
            <a:pPr marL="0" indent="0">
              <a:buNone/>
            </a:pPr>
            <a:r>
              <a:rPr lang="en-US" sz="1500" dirty="0">
                <a:solidFill>
                  <a:schemeClr val="bg1"/>
                </a:solidFill>
                <a:latin typeface="Calibri" pitchFamily="34" charset="0"/>
                <a:ea typeface="Calibri" pitchFamily="34" charset="-122"/>
                <a:cs typeface="Calibri" pitchFamily="34" charset="-120"/>
              </a:rPr>
              <a:t>This analysis of 1,998 global companies across sales, profitability, assets, and market value reveals that SmartCorp's greatest strategic opportunity lies in the Technology sector and the Middle East region, where high investment scores, strong margins, and growing market confidence converge to offer the most compelling risk-adjusted returns in the global corporate landscape.</a:t>
            </a:r>
            <a:endParaRPr lang="en-US" sz="1500" dirty="0">
              <a:solidFill>
                <a:schemeClr val="bg1"/>
              </a:solidFill>
            </a:endParaRPr>
          </a:p>
        </p:txBody>
      </p:sp>
      <p:sp>
        <p:nvSpPr>
          <p:cNvPr id="5" name="Text 3"/>
          <p:cNvSpPr/>
          <p:nvPr/>
        </p:nvSpPr>
        <p:spPr>
          <a:xfrm>
            <a:off x="548640" y="2926080"/>
            <a:ext cx="8046720" cy="91440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By prioritizing investment in high-margin, asset-efficient companies while reducing exposure to structurally underperforming sectors, SmartCorp can achieve sustainable portfolio growth over the next 1 to 3 years.</a:t>
            </a:r>
            <a:endParaRPr lang="en-US" sz="1500" dirty="0"/>
          </a:p>
        </p:txBody>
      </p:sp>
      <p:sp>
        <p:nvSpPr>
          <p:cNvPr id="6" name="Shape 4"/>
          <p:cNvSpPr/>
          <p:nvPr/>
        </p:nvSpPr>
        <p:spPr>
          <a:xfrm>
            <a:off x="548640" y="4023360"/>
            <a:ext cx="8046720" cy="594360"/>
          </a:xfrm>
          <a:prstGeom prst="roundRect">
            <a:avLst>
              <a:gd name="adj" fmla="val 15385"/>
            </a:avLst>
          </a:prstGeom>
          <a:solidFill>
            <a:schemeClr val="accent1">
              <a:lumMod val="20000"/>
              <a:lumOff val="80000"/>
            </a:schemeClr>
          </a:solidFill>
          <a:ln/>
        </p:spPr>
        <p:txBody>
          <a:bodyPr/>
          <a:lstStyle/>
          <a:p>
            <a:endParaRPr lang="en-US"/>
          </a:p>
        </p:txBody>
      </p:sp>
      <p:sp>
        <p:nvSpPr>
          <p:cNvPr id="7" name="Text 5"/>
          <p:cNvSpPr/>
          <p:nvPr/>
        </p:nvSpPr>
        <p:spPr>
          <a:xfrm>
            <a:off x="548640" y="4023360"/>
            <a:ext cx="8046720" cy="594360"/>
          </a:xfrm>
          <a:prstGeom prst="rect">
            <a:avLst/>
          </a:prstGeom>
          <a:noFill/>
          <a:ln/>
        </p:spPr>
        <p:txBody>
          <a:bodyPr wrap="square" lIns="0" tIns="0" rIns="0" bIns="0" rtlCol="0" anchor="ctr"/>
          <a:lstStyle/>
          <a:p>
            <a:pPr marL="0" indent="0" algn="ctr">
              <a:buNone/>
            </a:pPr>
            <a:r>
              <a:rPr lang="en-US" sz="1600" b="1" dirty="0">
                <a:solidFill>
                  <a:srgbClr val="0D1B3E"/>
                </a:solidFill>
                <a:latin typeface="Calibri" pitchFamily="34" charset="0"/>
                <a:ea typeface="Calibri" pitchFamily="34" charset="-122"/>
                <a:cs typeface="Calibri" pitchFamily="34" charset="-120"/>
              </a:rPr>
              <a:t>"The data is clear. The opportunity is now. The decision is yours."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565C0"/>
        </a:solidFill>
        <a:effectLst/>
      </p:bgPr>
    </p:bg>
    <p:spTree>
      <p:nvGrpSpPr>
        <p:cNvPr id="1" name=""/>
        <p:cNvGrpSpPr/>
        <p:nvPr/>
      </p:nvGrpSpPr>
      <p:grpSpPr>
        <a:xfrm>
          <a:off x="0" y="0"/>
          <a:ext cx="0" cy="0"/>
          <a:chOff x="0" y="0"/>
          <a:chExt cx="0" cy="0"/>
        </a:xfrm>
      </p:grpSpPr>
      <p:sp>
        <p:nvSpPr>
          <p:cNvPr id="2" name="Text 0"/>
          <p:cNvSpPr/>
          <p:nvPr/>
        </p:nvSpPr>
        <p:spPr>
          <a:xfrm>
            <a:off x="457200" y="1005840"/>
            <a:ext cx="8229600" cy="1097280"/>
          </a:xfrm>
          <a:prstGeom prst="rect">
            <a:avLst/>
          </a:prstGeom>
          <a:noFill/>
          <a:ln/>
          <a:effectLst>
            <a:outerShdw blurRad="50800" dist="38100" dir="16200000" rotWithShape="0">
              <a:prstClr val="black">
                <a:alpha val="40000"/>
              </a:prstClr>
            </a:outerShdw>
          </a:effectLst>
        </p:spPr>
        <p:txBody>
          <a:bodyPr wrap="square" lIns="0" tIns="0" rIns="0" bIns="0" rtlCol="0" anchor="ctr"/>
          <a:lstStyle/>
          <a:p>
            <a:pPr marL="0" indent="0" algn="ctr">
              <a:buNone/>
            </a:pPr>
            <a:r>
              <a:rPr lang="en-US" sz="5400" b="1" kern="0" spc="800" dirty="0">
                <a:solidFill>
                  <a:srgbClr val="FFFFFF"/>
                </a:solidFill>
                <a:latin typeface="Calibri" pitchFamily="34" charset="0"/>
                <a:ea typeface="Calibri" pitchFamily="34" charset="-122"/>
                <a:cs typeface="Calibri" pitchFamily="34" charset="-120"/>
              </a:rPr>
              <a:t>THANK YOU</a:t>
            </a:r>
            <a:endParaRPr lang="en-US" sz="5400" dirty="0"/>
          </a:p>
        </p:txBody>
      </p:sp>
      <p:sp>
        <p:nvSpPr>
          <p:cNvPr id="3" name="Shape 1"/>
          <p:cNvSpPr/>
          <p:nvPr/>
        </p:nvSpPr>
        <p:spPr>
          <a:xfrm>
            <a:off x="3200400" y="2286000"/>
            <a:ext cx="2743200" cy="64008"/>
          </a:xfrm>
          <a:prstGeom prst="rect">
            <a:avLst/>
          </a:prstGeom>
          <a:solidFill>
            <a:srgbClr val="002060"/>
          </a:solidFill>
          <a:ln w="12700">
            <a:solidFill>
              <a:srgbClr val="002060"/>
            </a:solidFill>
            <a:prstDash val="solid"/>
          </a:ln>
        </p:spPr>
        <p:txBody>
          <a:bodyPr/>
          <a:lstStyle/>
          <a:p>
            <a:endParaRPr lang="en-US"/>
          </a:p>
        </p:txBody>
      </p:sp>
      <p:sp>
        <p:nvSpPr>
          <p:cNvPr id="4" name="Text 2"/>
          <p:cNvSpPr/>
          <p:nvPr/>
        </p:nvSpPr>
        <p:spPr>
          <a:xfrm>
            <a:off x="457200" y="2468880"/>
            <a:ext cx="8229600" cy="457200"/>
          </a:xfrm>
          <a:prstGeom prst="rect">
            <a:avLst/>
          </a:prstGeom>
          <a:noFill/>
          <a:ln/>
        </p:spPr>
        <p:txBody>
          <a:bodyPr wrap="square" lIns="0" tIns="0" rIns="0" bIns="0" rtlCol="0" anchor="ctr"/>
          <a:lstStyle/>
          <a:p>
            <a:pPr marL="0" indent="0" algn="ctr">
              <a:buNone/>
            </a:pPr>
            <a:r>
              <a:rPr lang="en-US" sz="1600" b="1" dirty="0">
                <a:solidFill>
                  <a:srgbClr val="CADCFC"/>
                </a:solidFill>
                <a:latin typeface="Calibri" pitchFamily="34" charset="0"/>
                <a:ea typeface="Calibri" pitchFamily="34" charset="-122"/>
                <a:cs typeface="Calibri" pitchFamily="34" charset="-120"/>
              </a:rPr>
              <a:t>We welcome your questions and discussions</a:t>
            </a:r>
            <a:endParaRPr lang="en-US" sz="1600" b="1" dirty="0"/>
          </a:p>
        </p:txBody>
      </p:sp>
      <p:sp>
        <p:nvSpPr>
          <p:cNvPr id="5" name="Text 3"/>
          <p:cNvSpPr/>
          <p:nvPr/>
        </p:nvSpPr>
        <p:spPr>
          <a:xfrm>
            <a:off x="914400" y="3063240"/>
            <a:ext cx="731520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Prepared by: TechCrush Data Analytics Group 20 Team</a:t>
            </a:r>
            <a:endParaRPr lang="en-US" sz="1200" b="1" dirty="0"/>
          </a:p>
        </p:txBody>
      </p:sp>
      <p:sp>
        <p:nvSpPr>
          <p:cNvPr id="6" name="Text 4"/>
          <p:cNvSpPr/>
          <p:nvPr/>
        </p:nvSpPr>
        <p:spPr>
          <a:xfrm>
            <a:off x="914400" y="3410712"/>
            <a:ext cx="731520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Program: TechCrush Data Analytics Capstone Project — Cohort 6</a:t>
            </a:r>
            <a:endParaRPr lang="en-US" sz="1200" b="1" dirty="0"/>
          </a:p>
        </p:txBody>
      </p:sp>
      <p:sp>
        <p:nvSpPr>
          <p:cNvPr id="7" name="Text 5"/>
          <p:cNvSpPr/>
          <p:nvPr/>
        </p:nvSpPr>
        <p:spPr>
          <a:xfrm>
            <a:off x="914400" y="3758184"/>
            <a:ext cx="731520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Dataset: Forbes Global 2000 Companies 2025  |  Source: Kaggle</a:t>
            </a:r>
            <a:endParaRPr lang="en-US" sz="1200" b="1" dirty="0"/>
          </a:p>
        </p:txBody>
      </p:sp>
      <p:sp>
        <p:nvSpPr>
          <p:cNvPr id="8" name="Text 6"/>
          <p:cNvSpPr/>
          <p:nvPr/>
        </p:nvSpPr>
        <p:spPr>
          <a:xfrm>
            <a:off x="914400" y="4105656"/>
            <a:ext cx="731520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Tools Used: Microsoft Excel  |  Power BI Desktop</a:t>
            </a:r>
            <a:endParaRPr lang="en-US" sz="1200" b="1" dirty="0"/>
          </a:p>
        </p:txBody>
      </p:sp>
      <p:sp>
        <p:nvSpPr>
          <p:cNvPr id="9" name="Shape 7"/>
          <p:cNvSpPr/>
          <p:nvPr/>
        </p:nvSpPr>
        <p:spPr>
          <a:xfrm>
            <a:off x="2743200" y="4617720"/>
            <a:ext cx="3657600" cy="347472"/>
          </a:xfrm>
          <a:prstGeom prst="roundRect">
            <a:avLst>
              <a:gd name="adj" fmla="val 21053"/>
            </a:avLst>
          </a:prstGeom>
          <a:solidFill>
            <a:srgbClr val="0D1B3E"/>
          </a:solidFill>
          <a:ln/>
        </p:spPr>
        <p:txBody>
          <a:bodyPr/>
          <a:lstStyle/>
          <a:p>
            <a:endParaRPr lang="en-US"/>
          </a:p>
        </p:txBody>
      </p:sp>
      <p:sp>
        <p:nvSpPr>
          <p:cNvPr id="10" name="Text 8"/>
          <p:cNvSpPr/>
          <p:nvPr/>
        </p:nvSpPr>
        <p:spPr>
          <a:xfrm>
            <a:off x="2743200" y="4617720"/>
            <a:ext cx="3657600" cy="347472"/>
          </a:xfrm>
          <a:prstGeom prst="rect">
            <a:avLst/>
          </a:prstGeom>
          <a:noFill/>
          <a:ln/>
        </p:spPr>
        <p:txBody>
          <a:bodyPr wrap="square" lIns="0" tIns="0" rIns="0" bIns="0" rtlCol="0" anchor="ctr"/>
          <a:lstStyle/>
          <a:p>
            <a:pPr marL="0" indent="0" algn="ctr">
              <a:buNone/>
            </a:pPr>
            <a:r>
              <a:rPr lang="en-US" sz="1100" b="1" dirty="0">
                <a:solidFill>
                  <a:schemeClr val="bg1"/>
                </a:solidFill>
                <a:latin typeface="Calibri" pitchFamily="34" charset="0"/>
                <a:ea typeface="Calibri" pitchFamily="34" charset="-122"/>
                <a:cs typeface="Calibri" pitchFamily="34" charset="-120"/>
              </a:rPr>
              <a:t>SmartCorp Global Performance Analysis — 2025</a:t>
            </a:r>
            <a:endParaRPr lang="en-US" sz="11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532</TotalTime>
  <Words>1454</Words>
  <Application>Microsoft Office PowerPoint</Application>
  <PresentationFormat>On-screen Show (16:9)</PresentationFormat>
  <Paragraphs>250</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ALEXANDER</dc:creator>
  <cp:lastModifiedBy>DARAMOLA ALEXANDER</cp:lastModifiedBy>
  <cp:revision>20</cp:revision>
  <dcterms:modified xsi:type="dcterms:W3CDTF">2026-06-12T15:23:43Z</dcterms:modified>
</cp:coreProperties>
</file>